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2" r:id="rId9"/>
    <p:sldId id="263" r:id="rId10"/>
    <p:sldId id="264" r:id="rId11"/>
    <p:sldId id="265" r:id="rId12"/>
    <p:sldId id="271" r:id="rId13"/>
    <p:sldId id="272" r:id="rId14"/>
    <p:sldId id="266" r:id="rId15"/>
    <p:sldId id="267" r:id="rId16"/>
    <p:sldId id="268" r:id="rId17"/>
    <p:sldId id="269" r:id="rId18"/>
    <p:sldId id="26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5" d="100"/>
          <a:sy n="85" d="100"/>
        </p:scale>
        <p:origin x="49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it Kumar" userId="149783267bcfb8df" providerId="LiveId" clId="{524AB8AA-70E1-414D-A9F6-6B5CD2FB42CD}"/>
    <pc:docChg chg="undo custSel modSld">
      <pc:chgData name="Namit Kumar" userId="149783267bcfb8df" providerId="LiveId" clId="{524AB8AA-70E1-414D-A9F6-6B5CD2FB42CD}" dt="2024-04-24T10:44:37.650" v="160" actId="1076"/>
      <pc:docMkLst>
        <pc:docMk/>
      </pc:docMkLst>
      <pc:sldChg chg="modSp mod">
        <pc:chgData name="Namit Kumar" userId="149783267bcfb8df" providerId="LiveId" clId="{524AB8AA-70E1-414D-A9F6-6B5CD2FB42CD}" dt="2024-04-24T10:01:34.538" v="32" actId="1076"/>
        <pc:sldMkLst>
          <pc:docMk/>
          <pc:sldMk cId="3020767252" sldId="256"/>
        </pc:sldMkLst>
        <pc:spChg chg="mod">
          <ac:chgData name="Namit Kumar" userId="149783267bcfb8df" providerId="LiveId" clId="{524AB8AA-70E1-414D-A9F6-6B5CD2FB42CD}" dt="2024-04-24T10:01:09.166" v="30" actId="27636"/>
          <ac:spMkLst>
            <pc:docMk/>
            <pc:sldMk cId="3020767252" sldId="256"/>
            <ac:spMk id="3" creationId="{00000000-0000-0000-0000-000000000000}"/>
          </ac:spMkLst>
        </pc:spChg>
        <pc:spChg chg="mod">
          <ac:chgData name="Namit Kumar" userId="149783267bcfb8df" providerId="LiveId" clId="{524AB8AA-70E1-414D-A9F6-6B5CD2FB42CD}" dt="2024-04-24T10:01:27.784" v="31" actId="1076"/>
          <ac:spMkLst>
            <pc:docMk/>
            <pc:sldMk cId="3020767252" sldId="256"/>
            <ac:spMk id="3075" creationId="{28866D43-EF89-217D-4B75-72A26B797B1F}"/>
          </ac:spMkLst>
        </pc:spChg>
        <pc:graphicFrameChg chg="mod">
          <ac:chgData name="Namit Kumar" userId="149783267bcfb8df" providerId="LiveId" clId="{524AB8AA-70E1-414D-A9F6-6B5CD2FB42CD}" dt="2024-04-24T10:01:34.538" v="32" actId="1076"/>
          <ac:graphicFrameMkLst>
            <pc:docMk/>
            <pc:sldMk cId="3020767252" sldId="256"/>
            <ac:graphicFrameMk id="5" creationId="{CEFB76AB-9CBD-53DE-7FA2-80EE0532079C}"/>
          </ac:graphicFrameMkLst>
        </pc:graphicFrameChg>
      </pc:sldChg>
      <pc:sldChg chg="modSp mod">
        <pc:chgData name="Namit Kumar" userId="149783267bcfb8df" providerId="LiveId" clId="{524AB8AA-70E1-414D-A9F6-6B5CD2FB42CD}" dt="2024-04-24T10:39:23.470" v="99" actId="20577"/>
        <pc:sldMkLst>
          <pc:docMk/>
          <pc:sldMk cId="3236731320" sldId="259"/>
        </pc:sldMkLst>
        <pc:spChg chg="mod">
          <ac:chgData name="Namit Kumar" userId="149783267bcfb8df" providerId="LiveId" clId="{524AB8AA-70E1-414D-A9F6-6B5CD2FB42CD}" dt="2024-04-24T10:39:23.470" v="99" actId="20577"/>
          <ac:spMkLst>
            <pc:docMk/>
            <pc:sldMk cId="3236731320" sldId="259"/>
            <ac:spMk id="3" creationId="{00000000-0000-0000-0000-000000000000}"/>
          </ac:spMkLst>
        </pc:spChg>
      </pc:sldChg>
      <pc:sldChg chg="modSp mod">
        <pc:chgData name="Namit Kumar" userId="149783267bcfb8df" providerId="LiveId" clId="{524AB8AA-70E1-414D-A9F6-6B5CD2FB42CD}" dt="2024-04-24T10:36:22.377" v="49" actId="404"/>
        <pc:sldMkLst>
          <pc:docMk/>
          <pc:sldMk cId="3086547478" sldId="260"/>
        </pc:sldMkLst>
        <pc:spChg chg="mod">
          <ac:chgData name="Namit Kumar" userId="149783267bcfb8df" providerId="LiveId" clId="{524AB8AA-70E1-414D-A9F6-6B5CD2FB42CD}" dt="2024-04-24T10:36:22.377" v="49" actId="404"/>
          <ac:spMkLst>
            <pc:docMk/>
            <pc:sldMk cId="3086547478" sldId="260"/>
            <ac:spMk id="3" creationId="{00000000-0000-0000-0000-000000000000}"/>
          </ac:spMkLst>
        </pc:spChg>
      </pc:sldChg>
      <pc:sldChg chg="modSp mod">
        <pc:chgData name="Namit Kumar" userId="149783267bcfb8df" providerId="LiveId" clId="{524AB8AA-70E1-414D-A9F6-6B5CD2FB42CD}" dt="2024-04-24T10:36:38.921" v="50" actId="2711"/>
        <pc:sldMkLst>
          <pc:docMk/>
          <pc:sldMk cId="1509450478" sldId="262"/>
        </pc:sldMkLst>
        <pc:spChg chg="mod">
          <ac:chgData name="Namit Kumar" userId="149783267bcfb8df" providerId="LiveId" clId="{524AB8AA-70E1-414D-A9F6-6B5CD2FB42CD}" dt="2024-04-24T10:36:38.921" v="50" actId="2711"/>
          <ac:spMkLst>
            <pc:docMk/>
            <pc:sldMk cId="1509450478" sldId="262"/>
            <ac:spMk id="3" creationId="{00000000-0000-0000-0000-000000000000}"/>
          </ac:spMkLst>
        </pc:spChg>
      </pc:sldChg>
      <pc:sldChg chg="modSp mod">
        <pc:chgData name="Namit Kumar" userId="149783267bcfb8df" providerId="LiveId" clId="{524AB8AA-70E1-414D-A9F6-6B5CD2FB42CD}" dt="2024-04-24T10:40:29.095" v="132" actId="20577"/>
        <pc:sldMkLst>
          <pc:docMk/>
          <pc:sldMk cId="2856746755" sldId="263"/>
        </pc:sldMkLst>
        <pc:spChg chg="mod">
          <ac:chgData name="Namit Kumar" userId="149783267bcfb8df" providerId="LiveId" clId="{524AB8AA-70E1-414D-A9F6-6B5CD2FB42CD}" dt="2024-04-24T10:40:29.095" v="132" actId="20577"/>
          <ac:spMkLst>
            <pc:docMk/>
            <pc:sldMk cId="2856746755" sldId="263"/>
            <ac:spMk id="3" creationId="{00000000-0000-0000-0000-000000000000}"/>
          </ac:spMkLst>
        </pc:spChg>
      </pc:sldChg>
      <pc:sldChg chg="modSp mod">
        <pc:chgData name="Namit Kumar" userId="149783267bcfb8df" providerId="LiveId" clId="{524AB8AA-70E1-414D-A9F6-6B5CD2FB42CD}" dt="2024-04-24T10:40:55.025" v="134" actId="27636"/>
        <pc:sldMkLst>
          <pc:docMk/>
          <pc:sldMk cId="3079754089" sldId="264"/>
        </pc:sldMkLst>
        <pc:spChg chg="mod">
          <ac:chgData name="Namit Kumar" userId="149783267bcfb8df" providerId="LiveId" clId="{524AB8AA-70E1-414D-A9F6-6B5CD2FB42CD}" dt="2024-04-24T10:40:55.025" v="134" actId="27636"/>
          <ac:spMkLst>
            <pc:docMk/>
            <pc:sldMk cId="3079754089" sldId="264"/>
            <ac:spMk id="3" creationId="{00000000-0000-0000-0000-000000000000}"/>
          </ac:spMkLst>
        </pc:spChg>
      </pc:sldChg>
      <pc:sldChg chg="modSp mod">
        <pc:chgData name="Namit Kumar" userId="149783267bcfb8df" providerId="LiveId" clId="{524AB8AA-70E1-414D-A9F6-6B5CD2FB42CD}" dt="2024-04-24T10:37:14.756" v="53" actId="2711"/>
        <pc:sldMkLst>
          <pc:docMk/>
          <pc:sldMk cId="3419205406" sldId="265"/>
        </pc:sldMkLst>
        <pc:spChg chg="mod">
          <ac:chgData name="Namit Kumar" userId="149783267bcfb8df" providerId="LiveId" clId="{524AB8AA-70E1-414D-A9F6-6B5CD2FB42CD}" dt="2024-04-24T10:37:14.756" v="53" actId="2711"/>
          <ac:spMkLst>
            <pc:docMk/>
            <pc:sldMk cId="3419205406" sldId="265"/>
            <ac:spMk id="3" creationId="{00000000-0000-0000-0000-000000000000}"/>
          </ac:spMkLst>
        </pc:spChg>
      </pc:sldChg>
      <pc:sldChg chg="modSp mod">
        <pc:chgData name="Namit Kumar" userId="149783267bcfb8df" providerId="LiveId" clId="{524AB8AA-70E1-414D-A9F6-6B5CD2FB42CD}" dt="2024-04-24T10:37:38.954" v="56" actId="2711"/>
        <pc:sldMkLst>
          <pc:docMk/>
          <pc:sldMk cId="3948981460" sldId="266"/>
        </pc:sldMkLst>
        <pc:spChg chg="mod">
          <ac:chgData name="Namit Kumar" userId="149783267bcfb8df" providerId="LiveId" clId="{524AB8AA-70E1-414D-A9F6-6B5CD2FB42CD}" dt="2024-04-24T10:37:38.954" v="56" actId="2711"/>
          <ac:spMkLst>
            <pc:docMk/>
            <pc:sldMk cId="3948981460" sldId="266"/>
            <ac:spMk id="3" creationId="{00000000-0000-0000-0000-000000000000}"/>
          </ac:spMkLst>
        </pc:spChg>
      </pc:sldChg>
      <pc:sldChg chg="modSp mod">
        <pc:chgData name="Namit Kumar" userId="149783267bcfb8df" providerId="LiveId" clId="{524AB8AA-70E1-414D-A9F6-6B5CD2FB42CD}" dt="2024-04-24T10:43:24.291" v="154" actId="20577"/>
        <pc:sldMkLst>
          <pc:docMk/>
          <pc:sldMk cId="555218084" sldId="267"/>
        </pc:sldMkLst>
        <pc:spChg chg="mod">
          <ac:chgData name="Namit Kumar" userId="149783267bcfb8df" providerId="LiveId" clId="{524AB8AA-70E1-414D-A9F6-6B5CD2FB42CD}" dt="2024-04-24T10:43:24.291" v="154" actId="20577"/>
          <ac:spMkLst>
            <pc:docMk/>
            <pc:sldMk cId="555218084" sldId="267"/>
            <ac:spMk id="7" creationId="{51605157-8AD8-69E4-F267-15BD399211DE}"/>
          </ac:spMkLst>
        </pc:spChg>
      </pc:sldChg>
      <pc:sldChg chg="modSp mod">
        <pc:chgData name="Namit Kumar" userId="149783267bcfb8df" providerId="LiveId" clId="{524AB8AA-70E1-414D-A9F6-6B5CD2FB42CD}" dt="2024-04-24T10:44:37.650" v="160" actId="1076"/>
        <pc:sldMkLst>
          <pc:docMk/>
          <pc:sldMk cId="3560092666" sldId="268"/>
        </pc:sldMkLst>
        <pc:spChg chg="mod">
          <ac:chgData name="Namit Kumar" userId="149783267bcfb8df" providerId="LiveId" clId="{524AB8AA-70E1-414D-A9F6-6B5CD2FB42CD}" dt="2024-04-24T10:44:37.650" v="160" actId="1076"/>
          <ac:spMkLst>
            <pc:docMk/>
            <pc:sldMk cId="3560092666" sldId="268"/>
            <ac:spMk id="6" creationId="{17E84ADC-3616-3F8E-96A9-5D0CFE403ADC}"/>
          </ac:spMkLst>
        </pc:spChg>
      </pc:sldChg>
      <pc:sldChg chg="modSp mod">
        <pc:chgData name="Namit Kumar" userId="149783267bcfb8df" providerId="LiveId" clId="{524AB8AA-70E1-414D-A9F6-6B5CD2FB42CD}" dt="2024-04-24T05:29:48.178" v="26"/>
        <pc:sldMkLst>
          <pc:docMk/>
          <pc:sldMk cId="1977590828" sldId="269"/>
        </pc:sldMkLst>
        <pc:spChg chg="mod">
          <ac:chgData name="Namit Kumar" userId="149783267bcfb8df" providerId="LiveId" clId="{524AB8AA-70E1-414D-A9F6-6B5CD2FB42CD}" dt="2024-04-24T05:29:48.178" v="26"/>
          <ac:spMkLst>
            <pc:docMk/>
            <pc:sldMk cId="1977590828" sldId="269"/>
            <ac:spMk id="6" creationId="{1DF2CF00-70A6-9CBF-A0B1-2D5602D47C02}"/>
          </ac:spMkLst>
        </pc:spChg>
      </pc:sldChg>
      <pc:sldChg chg="modSp mod">
        <pc:chgData name="Namit Kumar" userId="149783267bcfb8df" providerId="LiveId" clId="{524AB8AA-70E1-414D-A9F6-6B5CD2FB42CD}" dt="2024-04-24T10:37:23.254" v="54" actId="2711"/>
        <pc:sldMkLst>
          <pc:docMk/>
          <pc:sldMk cId="2026659782" sldId="271"/>
        </pc:sldMkLst>
        <pc:spChg chg="mod">
          <ac:chgData name="Namit Kumar" userId="149783267bcfb8df" providerId="LiveId" clId="{524AB8AA-70E1-414D-A9F6-6B5CD2FB42CD}" dt="2024-04-24T10:37:23.254" v="54" actId="2711"/>
          <ac:spMkLst>
            <pc:docMk/>
            <pc:sldMk cId="2026659782" sldId="271"/>
            <ac:spMk id="3" creationId="{00000000-0000-0000-0000-000000000000}"/>
          </ac:spMkLst>
        </pc:spChg>
      </pc:sldChg>
      <pc:sldChg chg="modSp mod">
        <pc:chgData name="Namit Kumar" userId="149783267bcfb8df" providerId="LiveId" clId="{524AB8AA-70E1-414D-A9F6-6B5CD2FB42CD}" dt="2024-04-24T10:37:31.246" v="55" actId="2711"/>
        <pc:sldMkLst>
          <pc:docMk/>
          <pc:sldMk cId="2752883723" sldId="272"/>
        </pc:sldMkLst>
        <pc:spChg chg="mod">
          <ac:chgData name="Namit Kumar" userId="149783267bcfb8df" providerId="LiveId" clId="{524AB8AA-70E1-414D-A9F6-6B5CD2FB42CD}" dt="2024-04-24T10:37:31.246" v="55" actId="2711"/>
          <ac:spMkLst>
            <pc:docMk/>
            <pc:sldMk cId="2752883723" sldId="27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518B892-A4A7-4064-8CB0-6723DC7C5222}"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4269833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18B892-A4A7-4064-8CB0-6723DC7C5222}"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2859311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8B892-A4A7-4064-8CB0-6723DC7C5222}"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1527309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518B892-A4A7-4064-8CB0-6723DC7C5222}"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4136187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518B892-A4A7-4064-8CB0-6723DC7C5222}" type="datetimeFigureOut">
              <a:rPr lang="en-IN" smtClean="0"/>
              <a:t>24-04-2024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298529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518B892-A4A7-4064-8CB0-6723DC7C5222}" type="datetimeFigureOut">
              <a:rPr lang="en-IN" smtClean="0"/>
              <a:t>24-04-2024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3302276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18B892-A4A7-4064-8CB0-6723DC7C5222}" type="datetimeFigureOut">
              <a:rPr lang="en-IN" smtClean="0"/>
              <a:t>24-04-2024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2266279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18B892-A4A7-4064-8CB0-6723DC7C5222}"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37447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18B892-A4A7-4064-8CB0-6723DC7C5222}"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377004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18B892-A4A7-4064-8CB0-6723DC7C5222}"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4059494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18B892-A4A7-4064-8CB0-6723DC7C5222}"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75EB2-2BAA-4405-BB5F-D017141A70FE}" type="slidenum">
              <a:rPr lang="en-IN" smtClean="0"/>
              <a:t>‹#›</a:t>
            </a:fld>
            <a:endParaRPr lang="en-IN"/>
          </a:p>
        </p:txBody>
      </p:sp>
    </p:spTree>
    <p:extLst>
      <p:ext uri="{BB962C8B-B14F-4D97-AF65-F5344CB8AC3E}">
        <p14:creationId xmlns:p14="http://schemas.microsoft.com/office/powerpoint/2010/main" val="2591440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18B892-A4A7-4064-8CB0-6723DC7C5222}" type="datetimeFigureOut">
              <a:rPr lang="en-IN" smtClean="0"/>
              <a:t>24-04-2024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75EB2-2BAA-4405-BB5F-D017141A70FE}" type="slidenum">
              <a:rPr lang="en-IN" smtClean="0"/>
              <a:t>‹#›</a:t>
            </a:fld>
            <a:endParaRPr lang="en-IN"/>
          </a:p>
        </p:txBody>
      </p:sp>
    </p:spTree>
    <p:extLst>
      <p:ext uri="{BB962C8B-B14F-4D97-AF65-F5344CB8AC3E}">
        <p14:creationId xmlns:p14="http://schemas.microsoft.com/office/powerpoint/2010/main" val="3744444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Noida institute of Engineering &amp; Technology</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72141" y="742950"/>
            <a:ext cx="11919858" cy="5737159"/>
          </a:xfrm>
        </p:spPr>
        <p:txBody>
          <a:bodyPr>
            <a:normAutofit fontScale="47500" lnSpcReduction="20000"/>
          </a:bodyPr>
          <a:lstStyle/>
          <a:p>
            <a:endParaRPr lang="en-US" sz="4400" dirty="0"/>
          </a:p>
          <a:p>
            <a:endParaRPr lang="en-US" sz="4400" dirty="0"/>
          </a:p>
          <a:p>
            <a:endParaRPr lang="en-US" sz="1500" dirty="0">
              <a:latin typeface="Times New Roman" panose="02020603050405020304" pitchFamily="18" charset="0"/>
              <a:cs typeface="Times New Roman" panose="02020603050405020304" pitchFamily="18" charset="0"/>
            </a:endParaRPr>
          </a:p>
          <a:p>
            <a:pPr>
              <a:lnSpc>
                <a:spcPct val="120000"/>
              </a:lnSpc>
            </a:pPr>
            <a:r>
              <a:rPr lang="en-US" sz="2800" dirty="0">
                <a:latin typeface="Times New Roman" panose="02020603050405020304" pitchFamily="18" charset="0"/>
                <a:cs typeface="Times New Roman" panose="02020603050405020304" pitchFamily="18" charset="0"/>
              </a:rPr>
              <a:t>Department of CSE (AI)</a:t>
            </a:r>
          </a:p>
          <a:p>
            <a:pPr>
              <a:lnSpc>
                <a:spcPct val="120000"/>
              </a:lnSpc>
            </a:pPr>
            <a:r>
              <a:rPr lang="en-US" dirty="0">
                <a:latin typeface="Times New Roman" panose="02020603050405020304" pitchFamily="18" charset="0"/>
                <a:cs typeface="Times New Roman" panose="02020603050405020304" pitchFamily="18" charset="0"/>
              </a:rPr>
              <a:t>Session (2023-24)</a:t>
            </a:r>
          </a:p>
          <a:p>
            <a:endParaRPr lang="en-US" dirty="0"/>
          </a:p>
          <a:p>
            <a:r>
              <a:rPr lang="en-US" sz="3200" dirty="0">
                <a:latin typeface="Times New Roman" panose="02020603050405020304" pitchFamily="18" charset="0"/>
                <a:cs typeface="Times New Roman" panose="02020603050405020304" pitchFamily="18" charset="0"/>
              </a:rPr>
              <a:t> Mini Project (ACSE0459) Presentation on</a:t>
            </a:r>
          </a:p>
          <a:p>
            <a:endParaRPr lang="en-US" sz="3200" dirty="0">
              <a:latin typeface="Times New Roman" panose="02020603050405020304" pitchFamily="18" charset="0"/>
              <a:cs typeface="Times New Roman" panose="02020603050405020304" pitchFamily="18" charset="0"/>
            </a:endParaRPr>
          </a:p>
          <a:p>
            <a:pPr algn="ctr" eaLnBrk="1" hangingPunct="1">
              <a:buSzPct val="100000"/>
            </a:pPr>
            <a:r>
              <a:rPr lang="en-US" altLang="en-US" sz="6500" b="1" dirty="0" err="1">
                <a:solidFill>
                  <a:srgbClr val="632E62"/>
                </a:solidFill>
                <a:latin typeface="Arial" panose="020B0604020202020204" pitchFamily="34" charset="0"/>
                <a:cs typeface="Arial" panose="020B0604020202020204" pitchFamily="34" charset="0"/>
              </a:rPr>
              <a:t>SpendSmart</a:t>
            </a:r>
            <a:endParaRPr lang="en-US" altLang="en-US" sz="6500" b="1" dirty="0">
              <a:solidFill>
                <a:srgbClr val="632E62"/>
              </a:solidFill>
              <a:latin typeface="Arial" panose="020B0604020202020204" pitchFamily="34" charset="0"/>
              <a:cs typeface="Arial" panose="020B0604020202020204" pitchFamily="34" charset="0"/>
            </a:endParaRPr>
          </a:p>
          <a:p>
            <a:pPr algn="ctr" eaLnBrk="1" hangingPunct="1">
              <a:lnSpc>
                <a:spcPct val="150000"/>
              </a:lnSpc>
              <a:buSzPct val="100000"/>
            </a:pPr>
            <a:r>
              <a:rPr lang="en-US" altLang="en-US" sz="4400" dirty="0">
                <a:solidFill>
                  <a:srgbClr val="632E62"/>
                </a:solidFill>
                <a:latin typeface="Arial" panose="020B0604020202020204" pitchFamily="34" charset="0"/>
                <a:cs typeface="Arial" panose="020B0604020202020204" pitchFamily="34" charset="0"/>
              </a:rPr>
              <a:t>(Expense Prediction)</a:t>
            </a:r>
            <a:endParaRPr lang="en-US" sz="4400" b="1" dirty="0">
              <a:latin typeface="Times New Roman" panose="02020603050405020304" pitchFamily="18" charset="0"/>
              <a:cs typeface="Times New Roman" panose="02020603050405020304" pitchFamily="18" charset="0"/>
            </a:endParaRPr>
          </a:p>
          <a:p>
            <a:pPr algn="l"/>
            <a:endParaRPr lang="en-US" sz="4200" dirty="0"/>
          </a:p>
          <a:p>
            <a:pPr algn="l"/>
            <a:r>
              <a:rPr lang="en-US" sz="4200" b="1" dirty="0"/>
              <a:t>Project Guide</a:t>
            </a:r>
            <a:r>
              <a:rPr lang="en-US" sz="4200" dirty="0"/>
              <a:t>: </a:t>
            </a:r>
          </a:p>
          <a:p>
            <a:pPr algn="l"/>
            <a:r>
              <a:rPr lang="en-US" altLang="en-US" sz="4200" dirty="0">
                <a:solidFill>
                  <a:srgbClr val="000000"/>
                </a:solidFill>
                <a:latin typeface="Arial" panose="020B0604020202020204" pitchFamily="34" charset="0"/>
                <a:cs typeface="Arial" panose="020B0604020202020204" pitchFamily="34" charset="0"/>
              </a:rPr>
              <a:t>Ms. </a:t>
            </a:r>
            <a:r>
              <a:rPr lang="en-US" altLang="en-US" sz="3600" dirty="0">
                <a:solidFill>
                  <a:srgbClr val="000000"/>
                </a:solidFill>
                <a:latin typeface="Arial" panose="020B0604020202020204" pitchFamily="34" charset="0"/>
                <a:cs typeface="Arial" panose="020B0604020202020204" pitchFamily="34" charset="0"/>
              </a:rPr>
              <a:t>Shweta Singh</a:t>
            </a:r>
            <a:endParaRPr lang="en-US" altLang="en-US" sz="4200" dirty="0">
              <a:solidFill>
                <a:srgbClr val="000000"/>
              </a:solidFill>
              <a:latin typeface="Arial" panose="020B0604020202020204" pitchFamily="34" charset="0"/>
              <a:cs typeface="Arial" panose="020B0604020202020204" pitchFamily="34" charset="0"/>
            </a:endParaRPr>
          </a:p>
          <a:p>
            <a:pPr algn="l"/>
            <a:endParaRPr lang="en-US" altLang="en-US" sz="2100" dirty="0">
              <a:solidFill>
                <a:srgbClr val="000000"/>
              </a:solidFill>
              <a:latin typeface="Arial" panose="020B0604020202020204" pitchFamily="34" charset="0"/>
              <a:cs typeface="Arial" panose="020B0604020202020204" pitchFamily="34" charset="0"/>
            </a:endParaRPr>
          </a:p>
          <a:p>
            <a:pPr algn="l"/>
            <a:r>
              <a:rPr lang="en-US" altLang="en-US" sz="3600" b="1" dirty="0">
                <a:solidFill>
                  <a:srgbClr val="000000"/>
                </a:solidFill>
                <a:latin typeface="Arial" panose="020B0604020202020204" pitchFamily="34" charset="0"/>
                <a:cs typeface="Arial" panose="020B0604020202020204" pitchFamily="34" charset="0"/>
              </a:rPr>
              <a:t>Faculty Name</a:t>
            </a:r>
            <a:r>
              <a:rPr lang="en-US" altLang="en-US" sz="3600" dirty="0">
                <a:solidFill>
                  <a:srgbClr val="000000"/>
                </a:solidFill>
                <a:latin typeface="Arial" panose="020B0604020202020204" pitchFamily="34" charset="0"/>
                <a:cs typeface="Arial" panose="020B0604020202020204" pitchFamily="34" charset="0"/>
              </a:rPr>
              <a:t>: </a:t>
            </a:r>
          </a:p>
          <a:p>
            <a:pPr algn="l"/>
            <a:r>
              <a:rPr lang="en-US" altLang="en-US" sz="3600" dirty="0">
                <a:solidFill>
                  <a:srgbClr val="000000"/>
                </a:solidFill>
                <a:latin typeface="Arial" panose="020B0604020202020204" pitchFamily="34" charset="0"/>
                <a:cs typeface="Arial" panose="020B0604020202020204" pitchFamily="34" charset="0"/>
              </a:rPr>
              <a:t>Mr. Amar Pal Yadav</a:t>
            </a:r>
          </a:p>
          <a:p>
            <a:pPr algn="l"/>
            <a:r>
              <a:rPr lang="en-US" altLang="en-US" sz="3600" dirty="0">
                <a:solidFill>
                  <a:srgbClr val="000000"/>
                </a:solidFill>
                <a:latin typeface="Arial" panose="020B0604020202020204" pitchFamily="34" charset="0"/>
                <a:cs typeface="Arial" panose="020B0604020202020204" pitchFamily="34" charset="0"/>
              </a:rPr>
              <a:t>Mr. Praveen Kumar Tomar</a:t>
            </a:r>
          </a:p>
        </p:txBody>
      </p:sp>
      <p:pic>
        <p:nvPicPr>
          <p:cNvPr id="4" name="Picture 3">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5103" y="742950"/>
            <a:ext cx="3113935" cy="1272794"/>
          </a:xfrm>
          <a:prstGeom prst="rect">
            <a:avLst/>
          </a:prstGeom>
        </p:spPr>
      </p:pic>
      <p:sp>
        <p:nvSpPr>
          <p:cNvPr id="3075" name="Text Box 2">
            <a:extLst>
              <a:ext uri="{FF2B5EF4-FFF2-40B4-BE49-F238E27FC236}">
                <a16:creationId xmlns:a16="http://schemas.microsoft.com/office/drawing/2014/main" id="{28866D43-EF89-217D-4B75-72A26B797B1F}"/>
              </a:ext>
            </a:extLst>
          </p:cNvPr>
          <p:cNvSpPr txBox="1">
            <a:spLocks noChangeArrowheads="1"/>
          </p:cNvSpPr>
          <p:nvPr/>
        </p:nvSpPr>
        <p:spPr bwMode="auto">
          <a:xfrm>
            <a:off x="7646381" y="4292236"/>
            <a:ext cx="3842826"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1pPr>
            <a:lvl2pPr>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2pPr>
            <a:lvl3pPr>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3pPr>
            <a:lvl4pPr>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4pPr>
            <a:lvl5pPr>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5pPr>
            <a:lvl6pPr marL="2514600" indent="-228600" defTabSz="457200" eaLnBrk="0" fontAlgn="base" hangingPunct="0">
              <a:spcBef>
                <a:spcPct val="0"/>
              </a:spcBef>
              <a:spcAft>
                <a:spcPct val="0"/>
              </a:spcAft>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6pPr>
            <a:lvl7pPr marL="2971800" indent="-228600" defTabSz="457200" eaLnBrk="0" fontAlgn="base" hangingPunct="0">
              <a:spcBef>
                <a:spcPct val="0"/>
              </a:spcBef>
              <a:spcAft>
                <a:spcPct val="0"/>
              </a:spcAft>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7pPr>
            <a:lvl8pPr marL="3429000" indent="-228600" defTabSz="457200" eaLnBrk="0" fontAlgn="base" hangingPunct="0">
              <a:spcBef>
                <a:spcPct val="0"/>
              </a:spcBef>
              <a:spcAft>
                <a:spcPct val="0"/>
              </a:spcAft>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8pPr>
            <a:lvl9pPr marL="3886200" indent="-228600" defTabSz="457200" eaLnBrk="0" fontAlgn="base" hangingPunct="0">
              <a:spcBef>
                <a:spcPct val="0"/>
              </a:spcBef>
              <a:spcAft>
                <a:spcPct val="0"/>
              </a:spcAft>
              <a:tabLst>
                <a:tab pos="688975" algn="l"/>
                <a:tab pos="1603375" algn="l"/>
                <a:tab pos="2517775" algn="l"/>
                <a:tab pos="3432175" algn="l"/>
                <a:tab pos="4346575" algn="l"/>
                <a:tab pos="5260975" algn="l"/>
                <a:tab pos="6175375" algn="l"/>
                <a:tab pos="7089775" algn="l"/>
                <a:tab pos="8004175" algn="l"/>
                <a:tab pos="8918575" algn="l"/>
                <a:tab pos="9832975" algn="l"/>
              </a:tabLst>
              <a:defRPr>
                <a:solidFill>
                  <a:schemeClr val="bg1"/>
                </a:solidFill>
                <a:latin typeface="Century Gothic" panose="020B0502020202020204" pitchFamily="34" charset="0"/>
                <a:cs typeface="WenQuanYi Micro Hei" charset="0"/>
              </a:defRPr>
            </a:lvl9pPr>
          </a:lstStyle>
          <a:p>
            <a:pPr algn="ctr" eaLnBrk="1" hangingPunct="1">
              <a:lnSpc>
                <a:spcPct val="90000"/>
              </a:lnSpc>
              <a:spcBef>
                <a:spcPts val="1800"/>
              </a:spcBef>
              <a:buSzPct val="100000"/>
            </a:pPr>
            <a:r>
              <a:rPr lang="en-US" altLang="en-US" sz="2000" b="1" dirty="0">
                <a:solidFill>
                  <a:srgbClr val="000000"/>
                </a:solidFill>
              </a:rPr>
              <a:t>Group Members (26AI405B)</a:t>
            </a:r>
            <a:endParaRPr lang="en-US" altLang="en-US" sz="2000" dirty="0">
              <a:solidFill>
                <a:srgbClr val="000000"/>
              </a:solidFill>
            </a:endParaRPr>
          </a:p>
        </p:txBody>
      </p:sp>
      <p:graphicFrame>
        <p:nvGraphicFramePr>
          <p:cNvPr id="5" name="Table 4">
            <a:extLst>
              <a:ext uri="{FF2B5EF4-FFF2-40B4-BE49-F238E27FC236}">
                <a16:creationId xmlns:a16="http://schemas.microsoft.com/office/drawing/2014/main" id="{CEFB76AB-9CBD-53DE-7FA2-80EE0532079C}"/>
              </a:ext>
            </a:extLst>
          </p:cNvPr>
          <p:cNvGraphicFramePr>
            <a:graphicFrameLocks noGrp="1"/>
          </p:cNvGraphicFramePr>
          <p:nvPr>
            <p:extLst>
              <p:ext uri="{D42A27DB-BD31-4B8C-83A1-F6EECF244321}">
                <p14:modId xmlns:p14="http://schemas.microsoft.com/office/powerpoint/2010/main" val="397111578"/>
              </p:ext>
            </p:extLst>
          </p:nvPr>
        </p:nvGraphicFramePr>
        <p:xfrm>
          <a:off x="7789038" y="4789870"/>
          <a:ext cx="3557513" cy="1325180"/>
        </p:xfrm>
        <a:graphic>
          <a:graphicData uri="http://schemas.openxmlformats.org/drawingml/2006/table">
            <a:tbl>
              <a:tblPr>
                <a:tableStyleId>{5C22544A-7EE6-4342-B048-85BDC9FD1C3A}</a:tableStyleId>
              </a:tblPr>
              <a:tblGrid>
                <a:gridCol w="1897888">
                  <a:extLst>
                    <a:ext uri="{9D8B030D-6E8A-4147-A177-3AD203B41FA5}">
                      <a16:colId xmlns:a16="http://schemas.microsoft.com/office/drawing/2014/main" val="802802739"/>
                    </a:ext>
                  </a:extLst>
                </a:gridCol>
                <a:gridCol w="1659625">
                  <a:extLst>
                    <a:ext uri="{9D8B030D-6E8A-4147-A177-3AD203B41FA5}">
                      <a16:colId xmlns:a16="http://schemas.microsoft.com/office/drawing/2014/main" val="3562752034"/>
                    </a:ext>
                  </a:extLst>
                </a:gridCol>
              </a:tblGrid>
              <a:tr h="380498">
                <a:tc>
                  <a:txBody>
                    <a:bodyPr/>
                    <a:lstStyle/>
                    <a:p>
                      <a:pPr algn="ctr" rtl="0" fontAlgn="ctr"/>
                      <a:r>
                        <a:rPr lang="en-IN" sz="1400" b="1" u="none" strike="noStrike" dirty="0">
                          <a:effectLst/>
                        </a:rPr>
                        <a:t>Name of Member</a:t>
                      </a:r>
                      <a:endParaRPr lang="en-IN" sz="14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rtl="0" fontAlgn="ctr"/>
                      <a:r>
                        <a:rPr lang="en-IN" sz="1400" b="1" u="none" strike="noStrike" dirty="0">
                          <a:effectLst/>
                        </a:rPr>
                        <a:t>Roll Number</a:t>
                      </a:r>
                      <a:endParaRPr lang="en-IN" sz="1400" b="1" i="0" u="none" strike="noStrike" dirty="0">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262297787"/>
                  </a:ext>
                </a:extLst>
              </a:tr>
              <a:tr h="314894">
                <a:tc>
                  <a:txBody>
                    <a:bodyPr/>
                    <a:lstStyle/>
                    <a:p>
                      <a:pPr algn="ctr" fontAlgn="b"/>
                      <a:r>
                        <a:rPr lang="en-IN" sz="1500" u="none" strike="noStrike" dirty="0">
                          <a:effectLst/>
                        </a:rPr>
                        <a:t>Namit Kumar</a:t>
                      </a:r>
                      <a:endParaRPr lang="en-IN" sz="15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500" b="0" i="0" u="none" strike="noStrike" dirty="0">
                          <a:solidFill>
                            <a:srgbClr val="000000"/>
                          </a:solidFill>
                          <a:effectLst/>
                          <a:latin typeface="Calibri" panose="020F0502020204030204" pitchFamily="34" charset="0"/>
                        </a:rPr>
                        <a:t>2201331520113</a:t>
                      </a:r>
                    </a:p>
                  </a:txBody>
                  <a:tcPr marL="7620" marR="7620" marT="7620" marB="0" anchor="b"/>
                </a:tc>
                <a:extLst>
                  <a:ext uri="{0D108BD9-81ED-4DB2-BD59-A6C34878D82A}">
                    <a16:rowId xmlns:a16="http://schemas.microsoft.com/office/drawing/2014/main" val="3516104310"/>
                  </a:ext>
                </a:extLst>
              </a:tr>
              <a:tr h="314894">
                <a:tc>
                  <a:txBody>
                    <a:bodyPr/>
                    <a:lstStyle/>
                    <a:p>
                      <a:pPr algn="ctr" fontAlgn="b"/>
                      <a:r>
                        <a:rPr lang="en-IN" sz="1500" u="none" strike="noStrike" dirty="0">
                          <a:effectLst/>
                        </a:rPr>
                        <a:t>Piyush Kumar</a:t>
                      </a:r>
                      <a:endParaRPr lang="en-IN" sz="15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500" u="none" strike="noStrike" dirty="0">
                          <a:effectLst/>
                        </a:rPr>
                        <a:t>2201331520126</a:t>
                      </a:r>
                      <a:endParaRPr lang="en-IN" sz="15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6988113"/>
                  </a:ext>
                </a:extLst>
              </a:tr>
              <a:tr h="314894">
                <a:tc>
                  <a:txBody>
                    <a:bodyPr/>
                    <a:lstStyle/>
                    <a:p>
                      <a:pPr algn="ctr" fontAlgn="b"/>
                      <a:r>
                        <a:rPr lang="en-IN" sz="1500" u="none" strike="noStrike">
                          <a:effectLst/>
                        </a:rPr>
                        <a:t>Ankit Keshri</a:t>
                      </a:r>
                      <a:endParaRPr lang="en-IN" sz="15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500" b="0" i="0" u="none" strike="noStrike" dirty="0">
                          <a:solidFill>
                            <a:srgbClr val="000000"/>
                          </a:solidFill>
                          <a:effectLst/>
                          <a:latin typeface="Calibri" panose="020F0502020204030204" pitchFamily="34" charset="0"/>
                        </a:rPr>
                        <a:t>2201331520029</a:t>
                      </a:r>
                    </a:p>
                  </a:txBody>
                  <a:tcPr marL="7620" marR="7620" marT="7620" marB="0" anchor="b"/>
                </a:tc>
                <a:extLst>
                  <a:ext uri="{0D108BD9-81ED-4DB2-BD59-A6C34878D82A}">
                    <a16:rowId xmlns:a16="http://schemas.microsoft.com/office/drawing/2014/main" val="1085153425"/>
                  </a:ext>
                </a:extLst>
              </a:tr>
            </a:tbl>
          </a:graphicData>
        </a:graphic>
      </p:graphicFrame>
    </p:spTree>
    <p:extLst>
      <p:ext uri="{BB962C8B-B14F-4D97-AF65-F5344CB8AC3E}">
        <p14:creationId xmlns:p14="http://schemas.microsoft.com/office/powerpoint/2010/main" val="3020767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Presentation Outline</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12271" y="1283516"/>
            <a:ext cx="11919858" cy="5443854"/>
          </a:xfrm>
        </p:spPr>
        <p:txBody>
          <a:bodyPr>
            <a:normAutofit/>
          </a:bodyPr>
          <a:lstStyle/>
          <a:p>
            <a:pPr marL="571500" lvl="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 						</a:t>
            </a:r>
            <a:endParaRPr lang="en-IN" sz="2800" dirty="0">
              <a:latin typeface="Times New Roman" panose="02020603050405020304" pitchFamily="18" charset="0"/>
              <a:cs typeface="Times New Roman" panose="02020603050405020304" pitchFamily="18" charset="0"/>
            </a:endParaRP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Literature Review</a:t>
            </a: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Research Gap</a:t>
            </a: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How to overcome Research Gap			                                   </a:t>
            </a:r>
            <a:endParaRPr lang="en-IN" sz="2800" dirty="0">
              <a:latin typeface="Times New Roman" panose="02020603050405020304" pitchFamily="18" charset="0"/>
              <a:cs typeface="Times New Roman" panose="02020603050405020304" pitchFamily="18" charset="0"/>
            </a:endParaRP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Objectives of the Research work                                                                               </a:t>
            </a: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Methodology</a:t>
            </a:r>
          </a:p>
          <a:p>
            <a:pPr marL="571500" indent="-5715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Result</a:t>
            </a: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a:p>
            <a:pPr marL="571500" indent="-5715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List of Publication</a:t>
            </a:r>
          </a:p>
          <a:p>
            <a:pPr marL="571500" indent="-571500" algn="l">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References</a:t>
            </a:r>
          </a:p>
          <a:p>
            <a:pPr algn="l"/>
            <a:endParaRPr lang="en-US" sz="4400" dirty="0"/>
          </a:p>
          <a:p>
            <a:pPr algn="l"/>
            <a:endParaRPr lang="en-US" sz="4400" dirty="0"/>
          </a:p>
          <a:p>
            <a:pPr marL="571500" indent="-571500" algn="l">
              <a:buFont typeface="Arial" panose="020B0604020202020204" pitchFamily="34" charset="0"/>
              <a:buChar char="•"/>
            </a:pPr>
            <a:endParaRPr lang="en-US" sz="4400" dirty="0"/>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2010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Introduction</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83891" y="1068912"/>
            <a:ext cx="11779510" cy="5443854"/>
          </a:xfrm>
        </p:spPr>
        <p:txBody>
          <a:bodyPr>
            <a:normAutofit/>
          </a:bodyPr>
          <a:lstStyle/>
          <a:p>
            <a:pPr marL="0" indent="0" eaLnBrk="1" hangingPunct="1">
              <a:lnSpc>
                <a:spcPct val="150000"/>
              </a:lnSpc>
              <a:spcBef>
                <a:spcPts val="1800"/>
              </a:spcBef>
              <a:buClr>
                <a:srgbClr val="9B57D3"/>
              </a:buClr>
              <a:buSzPct val="100000"/>
            </a:pPr>
            <a:r>
              <a:rPr lang="en-US" altLang="en-US" dirty="0">
                <a:solidFill>
                  <a:srgbClr val="000000"/>
                </a:solidFill>
                <a:latin typeface="+mj-lt"/>
                <a:cs typeface="Times New Roman" panose="02020603050405020304" pitchFamily="18" charset="0"/>
              </a:rPr>
              <a:t>Welcome to the presentation on "</a:t>
            </a:r>
            <a:r>
              <a:rPr lang="en-US" altLang="en-US" b="1" dirty="0">
                <a:solidFill>
                  <a:srgbClr val="000000"/>
                </a:solidFill>
                <a:latin typeface="+mj-lt"/>
                <a:cs typeface="Times New Roman" panose="02020603050405020304" pitchFamily="18" charset="0"/>
              </a:rPr>
              <a:t>Prediction system for Expenses </a:t>
            </a:r>
            <a:r>
              <a:rPr lang="en-US" altLang="en-US" dirty="0">
                <a:solidFill>
                  <a:srgbClr val="000000"/>
                </a:solidFill>
                <a:latin typeface="+mj-lt"/>
                <a:cs typeface="Times New Roman" panose="02020603050405020304" pitchFamily="18" charset="0"/>
              </a:rPr>
              <a:t>“, named “</a:t>
            </a:r>
            <a:r>
              <a:rPr lang="en-US" altLang="en-US" b="1" dirty="0" err="1">
                <a:solidFill>
                  <a:srgbClr val="000000"/>
                </a:solidFill>
                <a:latin typeface="+mj-lt"/>
                <a:cs typeface="Times New Roman" panose="02020603050405020304" pitchFamily="18" charset="0"/>
              </a:rPr>
              <a:t>SpendSmart</a:t>
            </a:r>
            <a:r>
              <a:rPr lang="en-US" altLang="en-US" dirty="0">
                <a:solidFill>
                  <a:srgbClr val="000000"/>
                </a:solidFill>
                <a:latin typeface="+mj-lt"/>
                <a:cs typeface="Times New Roman" panose="02020603050405020304" pitchFamily="18" charset="0"/>
              </a:rPr>
              <a:t>”. Managing personal expenses can be challenging, and finding an efficient way to track and optimize spending is crucial for financial well-being. In this presentation, we explore a solution that goes beyond traditional expense tracking by incorporating predictions, enhancing the user experience and financial management.</a:t>
            </a:r>
            <a:r>
              <a:rPr lang="en-US" b="0" i="0" dirty="0">
                <a:solidFill>
                  <a:schemeClr val="tx1"/>
                </a:solidFill>
                <a:effectLst/>
                <a:latin typeface="+mj-lt"/>
              </a:rPr>
              <a:t> Individuals face difficulties in budgeting effectively and may miss opportunities for saving. This presentation addresses these challenges and introduces a prediction system for expenses, aiming to provide users with tailored suggestions for more effective financial management.</a:t>
            </a:r>
            <a:endParaRPr lang="en-US" altLang="en-US" dirty="0">
              <a:solidFill>
                <a:srgbClr val="000000"/>
              </a:solidFill>
              <a:latin typeface="+mj-lt"/>
              <a:cs typeface="Times New Roman" panose="02020603050405020304" pitchFamily="18" charset="0"/>
            </a:endParaRP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3236731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Review</a:t>
            </a:r>
          </a:p>
        </p:txBody>
      </p:sp>
      <p:sp>
        <p:nvSpPr>
          <p:cNvPr id="3" name="Subtitle 2"/>
          <p:cNvSpPr>
            <a:spLocks noGrp="1"/>
          </p:cNvSpPr>
          <p:nvPr>
            <p:ph type="subTitle" idx="1"/>
          </p:nvPr>
        </p:nvSpPr>
        <p:spPr>
          <a:xfrm>
            <a:off x="233265" y="1096006"/>
            <a:ext cx="11822664" cy="5192828"/>
          </a:xfrm>
        </p:spPr>
        <p:txBody>
          <a:bodyPr>
            <a:noAutofit/>
          </a:bodyPr>
          <a:lstStyle/>
          <a:p>
            <a:pPr marL="342900" indent="-342900" algn="l">
              <a:buFont typeface="Arial" panose="020B0604020202020204" pitchFamily="34" charset="0"/>
              <a:buChar char="•"/>
            </a:pPr>
            <a:r>
              <a:rPr lang="en-US" b="0" i="0" u="none" strike="noStrike" baseline="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S. Chandini [1] (2019), In this paper the authors have developed an expense tracker using PHP technology where the users are allowed to add bills for calculating expenses based on the report that gets generated and sends reminders via email. </a:t>
            </a:r>
            <a:r>
              <a:rPr lang="en-US" b="0" i="0" u="none" strike="noStrike" baseline="0" dirty="0">
                <a:solidFill>
                  <a:srgbClr val="0D0D0D"/>
                </a:solidFill>
                <a:latin typeface="Calibri Light" panose="020F0302020204030204" pitchFamily="34" charset="0"/>
                <a:ea typeface="Calibri Light" panose="020F0302020204030204" pitchFamily="34" charset="0"/>
                <a:cs typeface="Calibri Light" panose="020F0302020204030204" pitchFamily="34" charset="0"/>
              </a:rPr>
              <a:t>Provides weekly or monthly expense history.</a:t>
            </a:r>
          </a:p>
          <a:p>
            <a:pPr marL="342900" indent="-342900" algn="l">
              <a:buFont typeface="Arial" panose="020B0604020202020204" pitchFamily="34" charset="0"/>
              <a:buChar char="•"/>
            </a:pPr>
            <a:r>
              <a:rPr lang="en-US" b="0" i="0" u="none" strike="noStrike" baseline="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Atiya Kazi [2] (2021), In this paper the authors have stated that they have used Android studio SQLite, Angular 8 to build their android application, they have provided types and subtypes for income and expense which can be selected manually. This system cannot send reminders automatically also various category options needed to add which have been implemented by our project.</a:t>
            </a:r>
          </a:p>
          <a:p>
            <a:pPr marL="342900" indent="-342900" algn="l">
              <a:buFont typeface="Arial" panose="020B0604020202020204" pitchFamily="34" charset="0"/>
              <a:buChar char="•"/>
            </a:pPr>
            <a:r>
              <a:rPr lang="en-US" b="0" i="0" u="none" strike="noStrike" baseline="0" dirty="0">
                <a:latin typeface="Calibri Light" panose="020F0302020204030204" pitchFamily="34" charset="0"/>
                <a:ea typeface="Calibri Light" panose="020F0302020204030204" pitchFamily="34" charset="0"/>
                <a:cs typeface="Calibri Light" panose="020F0302020204030204" pitchFamily="34" charset="0"/>
              </a:rPr>
              <a:t>Nidhi Jitendra Jadhav [3] (2022), In this paper the authors have developed a mobile</a:t>
            </a:r>
          </a:p>
          <a:p>
            <a:pPr algn="l"/>
            <a:r>
              <a:rPr lang="en-US" dirty="0">
                <a:latin typeface="Calibri Light" panose="020F0302020204030204" pitchFamily="34" charset="0"/>
                <a:ea typeface="Calibri Light" panose="020F0302020204030204" pitchFamily="34" charset="0"/>
                <a:cs typeface="Calibri Light" panose="020F0302020204030204" pitchFamily="34" charset="0"/>
              </a:rPr>
              <a:t>    </a:t>
            </a:r>
            <a:r>
              <a:rPr lang="en-US" b="0" i="0" u="none" strike="noStrike" baseline="0" dirty="0">
                <a:latin typeface="Calibri Light" panose="020F0302020204030204" pitchFamily="34" charset="0"/>
                <a:ea typeface="Calibri Light" panose="020F0302020204030204" pitchFamily="34" charset="0"/>
                <a:cs typeface="Calibri Light" panose="020F0302020204030204" pitchFamily="34" charset="0"/>
              </a:rPr>
              <a:t>application. They have included a database layer (holds data and financial information,  </a:t>
            </a:r>
          </a:p>
          <a:p>
            <a:pPr algn="l"/>
            <a:r>
              <a:rPr lang="en-US" b="0" i="0" u="none" strike="noStrike" baseline="0" dirty="0">
                <a:latin typeface="Calibri Light" panose="020F0302020204030204" pitchFamily="34" charset="0"/>
                <a:ea typeface="Calibri Light" panose="020F0302020204030204" pitchFamily="34" charset="0"/>
                <a:cs typeface="Calibri Light" panose="020F0302020204030204" pitchFamily="34" charset="0"/>
              </a:rPr>
              <a:t>    </a:t>
            </a:r>
            <a:r>
              <a:rPr lang="en-US" b="0" i="0" u="none" strike="noStrike" baseline="0" dirty="0" err="1">
                <a:latin typeface="Calibri Light" panose="020F0302020204030204" pitchFamily="34" charset="0"/>
                <a:ea typeface="Calibri Light" panose="020F0302020204030204" pitchFamily="34" charset="0"/>
                <a:cs typeface="Calibri Light" panose="020F0302020204030204" pitchFamily="34" charset="0"/>
              </a:rPr>
              <a:t>programme</a:t>
            </a:r>
            <a:r>
              <a:rPr lang="en-US" b="0" i="0" u="none" strike="noStrike" baseline="0" dirty="0">
                <a:latin typeface="Calibri Light" panose="020F0302020204030204" pitchFamily="34" charset="0"/>
                <a:ea typeface="Calibri Light" panose="020F0302020204030204" pitchFamily="34" charset="0"/>
                <a:cs typeface="Calibri Light" panose="020F0302020204030204" pitchFamily="34" charset="0"/>
              </a:rPr>
              <a:t>). Users are provided with various categories and modes for payment also  </a:t>
            </a:r>
          </a:p>
          <a:p>
            <a:pPr algn="l"/>
            <a:r>
              <a:rPr lang="en-US" b="0" i="0" u="none" strike="noStrike" baseline="0" dirty="0">
                <a:latin typeface="Calibri Light" panose="020F0302020204030204" pitchFamily="34" charset="0"/>
                <a:ea typeface="Calibri Light" panose="020F0302020204030204" pitchFamily="34" charset="0"/>
                <a:cs typeface="Calibri Light" panose="020F0302020204030204" pitchFamily="34" charset="0"/>
              </a:rPr>
              <a:t>    showing</a:t>
            </a:r>
            <a:r>
              <a:rPr lang="en-US" dirty="0">
                <a:latin typeface="Calibri Light" panose="020F0302020204030204" pitchFamily="34" charset="0"/>
                <a:ea typeface="Calibri Light" panose="020F0302020204030204" pitchFamily="34" charset="0"/>
                <a:cs typeface="Calibri Light" panose="020F0302020204030204" pitchFamily="34" charset="0"/>
              </a:rPr>
              <a:t> </a:t>
            </a:r>
            <a:r>
              <a:rPr lang="en-US" b="0" i="0" u="none" strike="noStrike" baseline="0" dirty="0">
                <a:latin typeface="Calibri Light" panose="020F0302020204030204" pitchFamily="34" charset="0"/>
                <a:ea typeface="Calibri Light" panose="020F0302020204030204" pitchFamily="34" charset="0"/>
                <a:cs typeface="Calibri Light" panose="020F0302020204030204" pitchFamily="34" charset="0"/>
              </a:rPr>
              <a:t>pictorial representation on the interface.</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308654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Review</a:t>
            </a:r>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12271" y="1283516"/>
            <a:ext cx="11919858" cy="5443854"/>
          </a:xfrm>
        </p:spPr>
        <p:txBody>
          <a:bodyPr>
            <a:normAutofit/>
          </a:bodyPr>
          <a:lstStyle/>
          <a:p>
            <a:pPr marL="342900" indent="-342900" algn="l">
              <a:buFont typeface="Arial" panose="020B0604020202020204" pitchFamily="34" charset="0"/>
              <a:buChar char="•"/>
            </a:pPr>
            <a:r>
              <a:rPr lang="en-US" b="0" i="0" u="none" strike="noStrike" baseline="0" dirty="0">
                <a:latin typeface="+mj-lt"/>
              </a:rPr>
              <a:t>Hrithik Gupta [4] (2020), In this paper the authors have given in their article that they have</a:t>
            </a:r>
          </a:p>
          <a:p>
            <a:pPr algn="l"/>
            <a:r>
              <a:rPr lang="en-US" b="0" i="0" u="none" strike="noStrike" baseline="0" dirty="0">
                <a:latin typeface="+mj-lt"/>
              </a:rPr>
              <a:t>     developed a GUI based windows application using Java, MYSQL. In future scope record of</a:t>
            </a:r>
          </a:p>
          <a:p>
            <a:pPr algn="l"/>
            <a:r>
              <a:rPr lang="en-US" b="0" i="0" u="none" strike="noStrike" baseline="0" dirty="0">
                <a:latin typeface="+mj-lt"/>
              </a:rPr>
              <a:t>     backup details can be </a:t>
            </a:r>
            <a:r>
              <a:rPr lang="en-IN" b="0" i="0" u="none" strike="noStrike" baseline="0" dirty="0">
                <a:latin typeface="+mj-lt"/>
              </a:rPr>
              <a:t>maintained.</a:t>
            </a:r>
          </a:p>
          <a:p>
            <a:pPr marL="342900" indent="-342900" algn="l">
              <a:buFont typeface="Arial" panose="020B0604020202020204" pitchFamily="34" charset="0"/>
              <a:buChar char="•"/>
            </a:pPr>
            <a:r>
              <a:rPr lang="en-US" b="0" i="0" u="none" strike="noStrike" baseline="0" dirty="0">
                <a:latin typeface="+mj-lt"/>
              </a:rPr>
              <a:t>Tamia </a:t>
            </a:r>
            <a:r>
              <a:rPr lang="en-US" b="0" i="0" u="none" strike="noStrike" baseline="0" dirty="0" err="1">
                <a:latin typeface="+mj-lt"/>
              </a:rPr>
              <a:t>Ruvimbo</a:t>
            </a:r>
            <a:r>
              <a:rPr lang="en-US" b="0" i="0" u="none" strike="noStrike" baseline="0" dirty="0">
                <a:latin typeface="+mj-lt"/>
              </a:rPr>
              <a:t>  </a:t>
            </a:r>
            <a:r>
              <a:rPr lang="en-US" b="0" i="0" u="none" strike="noStrike" baseline="0" dirty="0" err="1">
                <a:latin typeface="+mj-lt"/>
              </a:rPr>
              <a:t>Masendu</a:t>
            </a:r>
            <a:r>
              <a:rPr lang="en-US" b="0" i="0" u="none" strike="noStrike" baseline="0" dirty="0">
                <a:latin typeface="+mj-lt"/>
              </a:rPr>
              <a:t> [5] (2022), In this paper the authors have given in their article that they have developed a GUI based windows application. They have used Java, MYSQL workbench as methodology. They are offering the end customer to file their earning and costs within the finances that</a:t>
            </a:r>
            <a:r>
              <a:rPr lang="en-IN" b="0" i="0" u="none" strike="noStrike" baseline="0" dirty="0">
                <a:latin typeface="+mj-lt"/>
              </a:rPr>
              <a:t>have been planned beforehand.</a:t>
            </a:r>
            <a:endParaRPr lang="en-US" dirty="0">
              <a:latin typeface="+mj-lt"/>
            </a:endParaRPr>
          </a:p>
          <a:p>
            <a:pPr marL="342900" indent="-342900" algn="l">
              <a:buFont typeface="Arial" panose="020B0604020202020204" pitchFamily="34" charset="0"/>
              <a:buChar char="•"/>
            </a:pPr>
            <a:r>
              <a:rPr lang="en-US" b="0" i="0" u="none" strike="noStrike" baseline="0" dirty="0">
                <a:solidFill>
                  <a:srgbClr val="000000"/>
                </a:solidFill>
                <a:latin typeface="+mj-lt"/>
              </a:rPr>
              <a:t>Raj Thakre [6] (2023), In this paper the authors have </a:t>
            </a:r>
            <a:r>
              <a:rPr lang="en-US" b="0" i="0" u="none" strike="noStrike" baseline="0" dirty="0">
                <a:solidFill>
                  <a:srgbClr val="0D0D0D"/>
                </a:solidFill>
                <a:latin typeface="+mj-lt"/>
              </a:rPr>
              <a:t>introduced an Expense Tracker mobile</a:t>
            </a:r>
          </a:p>
          <a:p>
            <a:pPr algn="l"/>
            <a:r>
              <a:rPr lang="en-US" b="0" i="0" u="none" strike="noStrike" baseline="0" dirty="0">
                <a:solidFill>
                  <a:srgbClr val="0D0D0D"/>
                </a:solidFill>
                <a:latin typeface="+mj-lt"/>
              </a:rPr>
              <a:t>    application that employs the Naive Bayes algorithm for automated expense tracking.</a:t>
            </a:r>
          </a:p>
          <a:p>
            <a:pPr algn="l"/>
            <a:r>
              <a:rPr lang="en-US" b="0" i="0" u="none" strike="noStrike" baseline="0" dirty="0">
                <a:solidFill>
                  <a:srgbClr val="0D0D0D"/>
                </a:solidFill>
                <a:latin typeface="+mj-lt"/>
              </a:rPr>
              <a:t>    Developed for Android users using Kotlin and XML in Android Studio, the application allows</a:t>
            </a:r>
          </a:p>
          <a:p>
            <a:pPr algn="l"/>
            <a:r>
              <a:rPr lang="en-US" b="0" i="0" u="none" strike="noStrike" baseline="0" dirty="0">
                <a:solidFill>
                  <a:srgbClr val="0D0D0D"/>
                </a:solidFill>
                <a:latin typeface="+mj-lt"/>
              </a:rPr>
              <a:t>    manual entry of expenses and automatic detection of bank messages</a:t>
            </a:r>
            <a:endParaRPr lang="en-US" dirty="0">
              <a:latin typeface="+mj-lt"/>
            </a:endParaRPr>
          </a:p>
          <a:p>
            <a:pPr marL="571500" indent="-571500" algn="l">
              <a:buFont typeface="Arial" panose="020B0604020202020204" pitchFamily="34" charset="0"/>
              <a:buChar char="•"/>
            </a:pPr>
            <a:endParaRPr lang="en-US" dirty="0">
              <a:latin typeface="+mj-lt"/>
            </a:endParaRP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1509450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Research Gap</a:t>
            </a:r>
          </a:p>
        </p:txBody>
      </p:sp>
      <p:sp>
        <p:nvSpPr>
          <p:cNvPr id="3" name="Subtitle 2"/>
          <p:cNvSpPr>
            <a:spLocks noGrp="1"/>
          </p:cNvSpPr>
          <p:nvPr>
            <p:ph type="subTitle" idx="1"/>
          </p:nvPr>
        </p:nvSpPr>
        <p:spPr>
          <a:xfrm>
            <a:off x="274320" y="1036320"/>
            <a:ext cx="11673840" cy="5445760"/>
          </a:xfrm>
        </p:spPr>
        <p:txBody>
          <a:bodyPr>
            <a:noAutofit/>
          </a:bodyPr>
          <a:lstStyle/>
          <a:p>
            <a:pPr marL="457200" indent="-457200" algn="l">
              <a:buFont typeface="Arial" panose="020B0604020202020204" pitchFamily="34" charset="0"/>
              <a:buChar char="•"/>
            </a:pPr>
            <a:r>
              <a:rPr lang="en-US" sz="2800" dirty="0">
                <a:latin typeface="+mj-lt"/>
              </a:rPr>
              <a:t>Insufficient Integration of Machine Learning : While machine learning techniques hold promise for enhancing expense tracking systems, many current solutions underutilize these technologies, leading to missed opportunities for predictive analysis.</a:t>
            </a:r>
          </a:p>
          <a:p>
            <a:pPr marL="457200" indent="-457200" algn="l">
              <a:buFont typeface="Arial" panose="020B0604020202020204" pitchFamily="34" charset="0"/>
              <a:buChar char="•"/>
            </a:pPr>
            <a:r>
              <a:rPr lang="en-US" sz="2800" dirty="0">
                <a:latin typeface="+mj-lt"/>
              </a:rPr>
              <a:t>User-Centric Design : Many expense tracking systems may not prioritize user-centric design principles, resulting in interfaces and functionalities that are cumbersome or unintuitive for users, thereby impeding user engagement and satisfaction.</a:t>
            </a:r>
          </a:p>
          <a:p>
            <a:pPr marL="457200" indent="-457200" algn="l">
              <a:buFont typeface="Arial" panose="020B0604020202020204" pitchFamily="34" charset="0"/>
              <a:buChar char="•"/>
            </a:pPr>
            <a:r>
              <a:rPr lang="en-US" sz="2800" dirty="0">
                <a:latin typeface="+mj-lt"/>
              </a:rPr>
              <a:t>Inefficiency in Data Analysis : Existing systems may lack efficient data analysis capabilities, resulting in suboptimal recommendations and insights derived from historical spending data.</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2856746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Objective of the Research work</a:t>
            </a:r>
          </a:p>
        </p:txBody>
      </p:sp>
      <p:sp>
        <p:nvSpPr>
          <p:cNvPr id="3" name="Subtitle 2"/>
          <p:cNvSpPr>
            <a:spLocks noGrp="1"/>
          </p:cNvSpPr>
          <p:nvPr>
            <p:ph type="subTitle" idx="1"/>
          </p:nvPr>
        </p:nvSpPr>
        <p:spPr>
          <a:xfrm>
            <a:off x="136071" y="1087623"/>
            <a:ext cx="11919858" cy="5443854"/>
          </a:xfrm>
        </p:spPr>
        <p:txBody>
          <a:bodyPr>
            <a:normAutofit/>
          </a:bodyPr>
          <a:lstStyle/>
          <a:p>
            <a:pPr marL="457200" indent="-457200" algn="l">
              <a:buFont typeface="Arial" panose="020B0604020202020204" pitchFamily="34" charset="0"/>
              <a:buChar char="•"/>
            </a:pPr>
            <a:r>
              <a:rPr lang="en-US" sz="2800" dirty="0">
                <a:latin typeface="+mj-lt"/>
              </a:rPr>
              <a:t>Developing an Innovative Expense Tracking System : The primary objective of the research is to develop an innovative expense tracking system, termed "</a:t>
            </a:r>
            <a:r>
              <a:rPr lang="en-US" sz="2800" dirty="0" err="1">
                <a:latin typeface="+mj-lt"/>
              </a:rPr>
              <a:t>SpendSmart</a:t>
            </a:r>
            <a:r>
              <a:rPr lang="en-US" sz="2800" dirty="0">
                <a:latin typeface="+mj-lt"/>
              </a:rPr>
              <a:t>," aimed at revolutionizing the way individuals manage their personal finances.</a:t>
            </a:r>
          </a:p>
          <a:p>
            <a:pPr marL="457200" indent="-457200" algn="l">
              <a:buFont typeface="Arial" panose="020B0604020202020204" pitchFamily="34" charset="0"/>
              <a:buChar char="•"/>
            </a:pPr>
            <a:r>
              <a:rPr lang="en-US" sz="2800" dirty="0">
                <a:latin typeface="+mj-lt"/>
              </a:rPr>
              <a:t>Contributing to Financial Well-being : Ultimately, the overarching objective of the research is to contribute to the financial well-being and success of individuals by providing them with a powerful tool for managing their finances effectively and achieving their financial goals.</a:t>
            </a:r>
          </a:p>
          <a:p>
            <a:pPr marL="457200" indent="-457200" algn="l">
              <a:buFont typeface="Arial" panose="020B0604020202020204" pitchFamily="34" charset="0"/>
              <a:buChar char="•"/>
            </a:pPr>
            <a:r>
              <a:rPr lang="en-US" sz="2800" dirty="0">
                <a:latin typeface="+mj-lt"/>
              </a:rPr>
              <a:t>Addressing Conventional Drawbacks : The research seeks to address the limitations of conventional expense tracking techniques by leveraging advanced technologies, such as regression models, </a:t>
            </a:r>
            <a:r>
              <a:rPr lang="en-US" sz="2800" dirty="0" err="1">
                <a:latin typeface="+mj-lt"/>
              </a:rPr>
              <a:t>Streamlit</a:t>
            </a:r>
            <a:r>
              <a:rPr lang="en-US" sz="2800" dirty="0">
                <a:latin typeface="+mj-lt"/>
              </a:rPr>
              <a:t> architecture, and SQL database management, to provide a more efficient and user-friendly solution.</a:t>
            </a:r>
          </a:p>
          <a:p>
            <a:pPr marL="571500" indent="-571500" algn="l">
              <a:buFont typeface="Arial" panose="020B0604020202020204" pitchFamily="34" charset="0"/>
              <a:buChar char="•"/>
            </a:pPr>
            <a:endParaRPr lang="en-US" sz="2800" dirty="0">
              <a:latin typeface="+mj-lt"/>
            </a:endParaRP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3079754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Methodology</a:t>
            </a:r>
          </a:p>
        </p:txBody>
      </p:sp>
      <p:sp>
        <p:nvSpPr>
          <p:cNvPr id="3" name="Subtitle 2"/>
          <p:cNvSpPr>
            <a:spLocks noGrp="1"/>
          </p:cNvSpPr>
          <p:nvPr>
            <p:ph type="subTitle" idx="1"/>
          </p:nvPr>
        </p:nvSpPr>
        <p:spPr>
          <a:xfrm>
            <a:off x="548639" y="1036319"/>
            <a:ext cx="11507289" cy="5114607"/>
          </a:xfrm>
        </p:spPr>
        <p:txBody>
          <a:bodyPr>
            <a:normAutofit fontScale="92500" lnSpcReduction="20000"/>
          </a:bodyPr>
          <a:lstStyle/>
          <a:p>
            <a:pPr algn="l"/>
            <a:endParaRPr lang="en-US" sz="3200" dirty="0">
              <a:latin typeface="+mj-lt"/>
            </a:endParaRPr>
          </a:p>
          <a:p>
            <a:pPr marL="457200" indent="-457200" algn="l">
              <a:buFont typeface="Wingdings" panose="05000000000000000000" pitchFamily="2" charset="2"/>
              <a:buChar char="q"/>
            </a:pPr>
            <a:r>
              <a:rPr kumimoji="0" lang="en-US" altLang="en-US" sz="3200" b="1" i="0" u="none" strike="noStrike" cap="none" normalizeH="0" baseline="0" dirty="0">
                <a:ln>
                  <a:noFill/>
                </a:ln>
                <a:solidFill>
                  <a:schemeClr val="tx1"/>
                </a:solidFill>
                <a:effectLst/>
                <a:latin typeface="+mj-lt"/>
              </a:rPr>
              <a:t>User Interface Design</a:t>
            </a:r>
            <a:br>
              <a:rPr kumimoji="0" lang="en-US" altLang="en-US" sz="3200" b="0" i="0" u="none" strike="noStrike" cap="none" normalizeH="0" baseline="0" dirty="0">
                <a:ln>
                  <a:noFill/>
                </a:ln>
                <a:solidFill>
                  <a:schemeClr val="tx1"/>
                </a:solidFill>
                <a:effectLst/>
                <a:latin typeface="+mj-lt"/>
              </a:rPr>
            </a:br>
            <a:endParaRPr kumimoji="0" lang="en-US" altLang="en-US" sz="3200" b="0" i="0" u="none" strike="noStrike" cap="none" normalizeH="0" baseline="0" dirty="0">
              <a:ln>
                <a:noFill/>
              </a:ln>
              <a:solidFill>
                <a:schemeClr val="tx1"/>
              </a:solidFill>
              <a:effectLst/>
              <a:latin typeface="+mj-lt"/>
            </a:endParaRPr>
          </a:p>
          <a:p>
            <a:pPr algn="l"/>
            <a:r>
              <a:rPr kumimoji="0" lang="en-US" altLang="en-US" sz="3200" b="0" i="0" u="none" strike="noStrike" cap="none" normalizeH="0" baseline="0" dirty="0" err="1">
                <a:ln>
                  <a:noFill/>
                </a:ln>
                <a:solidFill>
                  <a:schemeClr val="tx1"/>
                </a:solidFill>
                <a:effectLst/>
                <a:latin typeface="+mj-lt"/>
              </a:rPr>
              <a:t>SpendSmart's</a:t>
            </a:r>
            <a:r>
              <a:rPr kumimoji="0" lang="en-US" altLang="en-US" sz="3200" b="0" i="0" u="none" strike="noStrike" cap="none" normalizeH="0" baseline="0" dirty="0">
                <a:ln>
                  <a:noFill/>
                </a:ln>
                <a:solidFill>
                  <a:schemeClr val="tx1"/>
                </a:solidFill>
                <a:effectLst/>
                <a:latin typeface="+mj-lt"/>
              </a:rPr>
              <a:t> user interface (UI) was created to be simple,</a:t>
            </a:r>
          </a:p>
          <a:p>
            <a:pPr algn="l"/>
            <a:r>
              <a:rPr kumimoji="0" lang="en-US" altLang="en-US" sz="3200" b="0" i="0" u="none" strike="noStrike" cap="none" normalizeH="0" baseline="0" dirty="0">
                <a:ln>
                  <a:noFill/>
                </a:ln>
                <a:solidFill>
                  <a:schemeClr val="tx1"/>
                </a:solidFill>
                <a:effectLst/>
                <a:latin typeface="+mj-lt"/>
              </a:rPr>
              <a:t>intuitive, and accessible. </a:t>
            </a:r>
            <a:r>
              <a:rPr kumimoji="0" lang="en-US" altLang="en-US" sz="3200" b="0" i="0" u="none" strike="noStrike" cap="none" normalizeH="0" baseline="0" dirty="0" err="1">
                <a:ln>
                  <a:noFill/>
                </a:ln>
                <a:solidFill>
                  <a:schemeClr val="tx1"/>
                </a:solidFill>
                <a:effectLst/>
                <a:latin typeface="+mj-lt"/>
              </a:rPr>
              <a:t>Streamlit's</a:t>
            </a:r>
            <a:r>
              <a:rPr kumimoji="0" lang="en-US" altLang="en-US" sz="3200" b="0" i="0" u="none" strike="noStrike" cap="none" normalizeH="0" baseline="0" dirty="0">
                <a:ln>
                  <a:noFill/>
                </a:ln>
                <a:solidFill>
                  <a:schemeClr val="tx1"/>
                </a:solidFill>
                <a:effectLst/>
                <a:latin typeface="+mj-lt"/>
              </a:rPr>
              <a:t> declarative vocabulary and</a:t>
            </a:r>
          </a:p>
          <a:p>
            <a:pPr algn="l"/>
            <a:r>
              <a:rPr kumimoji="0" lang="en-US" altLang="en-US" sz="3200" b="0" i="0" u="none" strike="noStrike" cap="none" normalizeH="0" baseline="0" dirty="0">
                <a:ln>
                  <a:noFill/>
                </a:ln>
                <a:solidFill>
                  <a:schemeClr val="tx1"/>
                </a:solidFill>
                <a:effectLst/>
                <a:latin typeface="+mj-lt"/>
              </a:rPr>
              <a:t>built-in components made it easier to create interactive user</a:t>
            </a:r>
          </a:p>
          <a:p>
            <a:pPr algn="l"/>
            <a:r>
              <a:rPr kumimoji="0" lang="en-US" altLang="en-US" sz="3200" b="0" i="0" u="none" strike="noStrike" cap="none" normalizeH="0" baseline="0" dirty="0">
                <a:ln>
                  <a:noFill/>
                </a:ln>
                <a:solidFill>
                  <a:schemeClr val="tx1"/>
                </a:solidFill>
                <a:effectLst/>
                <a:latin typeface="+mj-lt"/>
              </a:rPr>
              <a:t>interface elements such as buttons, select boxes, forms, and</a:t>
            </a:r>
          </a:p>
          <a:p>
            <a:pPr algn="l"/>
            <a:r>
              <a:rPr kumimoji="0" lang="en-US" altLang="en-US" sz="3200" b="0" i="0" u="none" strike="noStrike" cap="none" normalizeH="0" baseline="0" dirty="0">
                <a:ln>
                  <a:noFill/>
                </a:ln>
                <a:solidFill>
                  <a:schemeClr val="tx1"/>
                </a:solidFill>
                <a:effectLst/>
                <a:latin typeface="+mj-lt"/>
              </a:rPr>
              <a:t>charts.</a:t>
            </a:r>
          </a:p>
          <a:p>
            <a:pPr algn="l"/>
            <a:r>
              <a:rPr lang="en-US" sz="3200" b="0" i="0" dirty="0" err="1">
                <a:solidFill>
                  <a:srgbClr val="1F2328"/>
                </a:solidFill>
                <a:effectLst/>
                <a:highlight>
                  <a:srgbClr val="FFFFFF"/>
                </a:highlight>
                <a:latin typeface="+mj-lt"/>
              </a:rPr>
              <a:t>Streamlit</a:t>
            </a:r>
            <a:r>
              <a:rPr lang="en-US" sz="3200" b="0" i="0" dirty="0">
                <a:solidFill>
                  <a:srgbClr val="1F2328"/>
                </a:solidFill>
                <a:effectLst/>
                <a:highlight>
                  <a:srgbClr val="FFFFFF"/>
                </a:highlight>
                <a:latin typeface="+mj-lt"/>
              </a:rPr>
              <a:t> lets you transform Python scripts into interactive web apps in</a:t>
            </a:r>
          </a:p>
          <a:p>
            <a:pPr algn="l"/>
            <a:r>
              <a:rPr lang="en-US" sz="3200" b="0" i="0" dirty="0">
                <a:solidFill>
                  <a:srgbClr val="1F2328"/>
                </a:solidFill>
                <a:effectLst/>
                <a:highlight>
                  <a:srgbClr val="FFFFFF"/>
                </a:highlight>
                <a:latin typeface="+mj-lt"/>
              </a:rPr>
              <a:t>minutes, instead of weeks. Build dashboards, generate reports, or</a:t>
            </a:r>
          </a:p>
          <a:p>
            <a:pPr algn="l"/>
            <a:r>
              <a:rPr lang="en-US" sz="3200" b="0" i="0" dirty="0">
                <a:solidFill>
                  <a:srgbClr val="1F2328"/>
                </a:solidFill>
                <a:effectLst/>
                <a:highlight>
                  <a:srgbClr val="FFFFFF"/>
                </a:highlight>
                <a:latin typeface="+mj-lt"/>
              </a:rPr>
              <a:t>create chat apps</a:t>
            </a:r>
            <a:endParaRPr lang="en-US" sz="3200" dirty="0">
              <a:latin typeface="+mj-lt"/>
            </a:endParaRPr>
          </a:p>
          <a:p>
            <a:pPr marL="571500" indent="-571500" algn="l">
              <a:buFont typeface="Arial" panose="020B0604020202020204" pitchFamily="34" charset="0"/>
              <a:buChar char="•"/>
            </a:pPr>
            <a:endParaRPr lang="en-US" sz="3200" dirty="0">
              <a:latin typeface="+mj-lt"/>
            </a:endParaRP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3419205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Methodology</a:t>
            </a:r>
          </a:p>
        </p:txBody>
      </p:sp>
      <p:sp>
        <p:nvSpPr>
          <p:cNvPr id="3" name="Subtitle 2"/>
          <p:cNvSpPr>
            <a:spLocks noGrp="1"/>
          </p:cNvSpPr>
          <p:nvPr>
            <p:ph type="subTitle" idx="1"/>
          </p:nvPr>
        </p:nvSpPr>
        <p:spPr>
          <a:xfrm>
            <a:off x="386080" y="1093429"/>
            <a:ext cx="11639368" cy="5477677"/>
          </a:xfrm>
        </p:spPr>
        <p:txBody>
          <a:bodyPr>
            <a:normAutofit/>
          </a:bodyPr>
          <a:lstStyle/>
          <a:p>
            <a:pPr marL="457200" indent="-457200" algn="l">
              <a:buFont typeface="Wingdings" panose="05000000000000000000" pitchFamily="2" charset="2"/>
              <a:buChar char="q"/>
            </a:pPr>
            <a:r>
              <a:rPr lang="en-US" sz="3200" b="1" dirty="0">
                <a:latin typeface="+mj-lt"/>
              </a:rPr>
              <a:t>Database Management</a:t>
            </a:r>
          </a:p>
          <a:p>
            <a:pPr algn="l"/>
            <a:r>
              <a:rPr lang="en-US" sz="3000" dirty="0">
                <a:latin typeface="+mj-lt"/>
              </a:rPr>
              <a:t>Transaction data, including expenses and incomes, were stored and managed using SQLite, a lightweight relational database management system. SQLite offered several advantages for this project:- </a:t>
            </a:r>
          </a:p>
          <a:p>
            <a:pPr marL="457200" indent="-457200" algn="l">
              <a:buFont typeface="Arial" panose="020B0604020202020204" pitchFamily="34" charset="0"/>
              <a:buChar char="•"/>
            </a:pPr>
            <a:r>
              <a:rPr lang="en-US" sz="3000" b="1" dirty="0">
                <a:latin typeface="+mj-lt"/>
              </a:rPr>
              <a:t>Simplicity</a:t>
            </a:r>
            <a:r>
              <a:rPr lang="en-US" sz="3000" dirty="0">
                <a:latin typeface="+mj-lt"/>
              </a:rPr>
              <a:t>: SQLite is easy to set up and requires minimal configuration, making it suitable for small to medium-scale applications like </a:t>
            </a:r>
            <a:r>
              <a:rPr lang="en-US" sz="3000" dirty="0" err="1">
                <a:latin typeface="+mj-lt"/>
              </a:rPr>
              <a:t>SpendSmart</a:t>
            </a:r>
            <a:r>
              <a:rPr lang="en-US" sz="3000" dirty="0">
                <a:latin typeface="+mj-lt"/>
              </a:rPr>
              <a:t>.</a:t>
            </a:r>
          </a:p>
          <a:p>
            <a:pPr marL="457200" indent="-457200" algn="l">
              <a:buFont typeface="Arial" panose="020B0604020202020204" pitchFamily="34" charset="0"/>
              <a:buChar char="•"/>
            </a:pPr>
            <a:r>
              <a:rPr lang="en-US" sz="3000" b="1" dirty="0">
                <a:latin typeface="+mj-lt"/>
              </a:rPr>
              <a:t>Portability</a:t>
            </a:r>
            <a:r>
              <a:rPr lang="en-US" sz="3000" dirty="0">
                <a:latin typeface="+mj-lt"/>
              </a:rPr>
              <a:t>: The database file can be easily transferred and shared, allowing for seamless collaboration among team members.</a:t>
            </a:r>
          </a:p>
          <a:p>
            <a:pPr marL="457200" indent="-457200" algn="l">
              <a:buFont typeface="Arial" panose="020B0604020202020204" pitchFamily="34" charset="0"/>
              <a:buChar char="•"/>
            </a:pPr>
            <a:r>
              <a:rPr lang="en-US" sz="3000" b="1" dirty="0">
                <a:latin typeface="+mj-lt"/>
              </a:rPr>
              <a:t>Compatibility</a:t>
            </a:r>
            <a:r>
              <a:rPr lang="en-US" sz="3000" dirty="0">
                <a:latin typeface="+mj-lt"/>
              </a:rPr>
              <a:t>: SQLite is compatible with Python, enabling straightforward integration with the application's backend logic</a:t>
            </a:r>
            <a:r>
              <a:rPr lang="en-US" sz="3200" dirty="0">
                <a:latin typeface="+mj-lt"/>
              </a:rPr>
              <a:t>.</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2026659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Methodology</a:t>
            </a:r>
          </a:p>
        </p:txBody>
      </p:sp>
      <p:sp>
        <p:nvSpPr>
          <p:cNvPr id="3" name="Subtitle 2"/>
          <p:cNvSpPr>
            <a:spLocks noGrp="1"/>
          </p:cNvSpPr>
          <p:nvPr>
            <p:ph type="subTitle" idx="1"/>
          </p:nvPr>
        </p:nvSpPr>
        <p:spPr>
          <a:xfrm>
            <a:off x="507999" y="1194545"/>
            <a:ext cx="11436169" cy="5443854"/>
          </a:xfrm>
        </p:spPr>
        <p:txBody>
          <a:bodyPr>
            <a:normAutofit/>
          </a:bodyPr>
          <a:lstStyle/>
          <a:p>
            <a:pPr marL="457200" indent="-457200" algn="l">
              <a:buFont typeface="Wingdings" panose="05000000000000000000" pitchFamily="2" charset="2"/>
              <a:buChar char="q"/>
            </a:pPr>
            <a:r>
              <a:rPr lang="en-US" sz="3200" b="1" dirty="0">
                <a:latin typeface="+mj-lt"/>
              </a:rPr>
              <a:t>Machine Learning Approach</a:t>
            </a:r>
          </a:p>
          <a:p>
            <a:pPr algn="l"/>
            <a:r>
              <a:rPr lang="en-US" sz="3200" b="1" dirty="0">
                <a:latin typeface="+mj-lt"/>
              </a:rPr>
              <a:t>Random Forest Regression </a:t>
            </a:r>
            <a:r>
              <a:rPr lang="en-US" sz="3200" dirty="0">
                <a:latin typeface="+mj-lt"/>
              </a:rPr>
              <a:t>is a machine learning algorithm that belongs to the ensemble learning category, specifically under the bagging method. It is an extension of the Random Forest algorithm, which is primarily used for classification tasks. However, in regression tasks, Random Forest Regression predicts continuous numeric values instead of discrete classes. Random Forest Regression is a powerful and versatile algorithm suitable for a wide range of regression tasks, including expense prediction in financial applications. Its ability to handle complex relationships and noisy data makes it a popular choice for predictive modeling.</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275288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Result</a:t>
            </a:r>
          </a:p>
        </p:txBody>
      </p:sp>
      <p:sp>
        <p:nvSpPr>
          <p:cNvPr id="3" name="Subtitle 2"/>
          <p:cNvSpPr>
            <a:spLocks noGrp="1"/>
          </p:cNvSpPr>
          <p:nvPr>
            <p:ph type="subTitle" idx="1"/>
          </p:nvPr>
        </p:nvSpPr>
        <p:spPr>
          <a:xfrm>
            <a:off x="670559" y="935223"/>
            <a:ext cx="11385369" cy="5443854"/>
          </a:xfrm>
        </p:spPr>
        <p:txBody>
          <a:bodyPr>
            <a:normAutofit fontScale="85000" lnSpcReduction="20000"/>
          </a:bodyPr>
          <a:lstStyle/>
          <a:p>
            <a:pPr algn="just"/>
            <a:endParaRPr lang="en-US" sz="3600" dirty="0">
              <a:latin typeface="+mj-lt"/>
            </a:endParaRPr>
          </a:p>
          <a:p>
            <a:pPr algn="l"/>
            <a:r>
              <a:rPr lang="en-US" sz="3600" b="0" i="0" dirty="0">
                <a:solidFill>
                  <a:schemeClr val="tx1"/>
                </a:solidFill>
                <a:effectLst/>
                <a:latin typeface="+mj-lt"/>
              </a:rPr>
              <a:t>Initial results are anticipated to have a positive impact on</a:t>
            </a:r>
          </a:p>
          <a:p>
            <a:pPr algn="l"/>
            <a:r>
              <a:rPr lang="en-US" sz="3600" b="0" i="0" dirty="0">
                <a:solidFill>
                  <a:schemeClr val="tx1"/>
                </a:solidFill>
                <a:effectLst/>
                <a:latin typeface="+mj-lt"/>
              </a:rPr>
              <a:t>users' financial management. It is assumed that the  </a:t>
            </a:r>
          </a:p>
          <a:p>
            <a:pPr algn="l"/>
            <a:r>
              <a:rPr lang="en-US" sz="3600" b="0" i="0" dirty="0">
                <a:solidFill>
                  <a:schemeClr val="tx1"/>
                </a:solidFill>
                <a:effectLst/>
                <a:latin typeface="+mj-lt"/>
              </a:rPr>
              <a:t>recommendation system will demonstrate improvements in</a:t>
            </a:r>
          </a:p>
          <a:p>
            <a:pPr algn="l"/>
            <a:r>
              <a:rPr lang="en-US" sz="3600" b="0" i="0" dirty="0">
                <a:solidFill>
                  <a:schemeClr val="tx1"/>
                </a:solidFill>
                <a:effectLst/>
                <a:latin typeface="+mj-lt"/>
              </a:rPr>
              <a:t>expense optimization, leading to an expected increase in user</a:t>
            </a:r>
          </a:p>
          <a:p>
            <a:pPr algn="l"/>
            <a:r>
              <a:rPr lang="en-US" sz="3600" b="0" i="0" dirty="0">
                <a:solidFill>
                  <a:schemeClr val="tx1"/>
                </a:solidFill>
                <a:effectLst/>
                <a:latin typeface="+mj-lt"/>
              </a:rPr>
              <a:t>satisfaction. Users are expected to report a better understanding of</a:t>
            </a:r>
          </a:p>
          <a:p>
            <a:pPr algn="l"/>
            <a:r>
              <a:rPr lang="en-US" sz="3600" b="0" i="0" dirty="0">
                <a:solidFill>
                  <a:schemeClr val="tx1"/>
                </a:solidFill>
                <a:effectLst/>
                <a:latin typeface="+mj-lt"/>
              </a:rPr>
              <a:t>their spending patterns and an appreciation for tailored suggestions</a:t>
            </a:r>
          </a:p>
          <a:p>
            <a:pPr algn="l"/>
            <a:r>
              <a:rPr lang="en-US" sz="3600" b="0" i="0" dirty="0">
                <a:solidFill>
                  <a:schemeClr val="tx1"/>
                </a:solidFill>
                <a:effectLst/>
                <a:latin typeface="+mj-lt"/>
              </a:rPr>
              <a:t>for more effective budgeting.</a:t>
            </a:r>
            <a:endParaRPr lang="en-US" altLang="en-US" sz="3600" b="1" dirty="0">
              <a:solidFill>
                <a:schemeClr val="tx1"/>
              </a:solidFill>
              <a:latin typeface="+mj-lt"/>
              <a:cs typeface="Calibri" panose="020F0502020204030204" pitchFamily="34" charset="0"/>
            </a:endParaRPr>
          </a:p>
          <a:p>
            <a:pPr algn="l"/>
            <a:r>
              <a:rPr kumimoji="0" lang="en-US" altLang="en-US" sz="3600" b="0" i="0" u="none" strike="noStrike" cap="none" normalizeH="0" baseline="0" dirty="0">
                <a:ln>
                  <a:noFill/>
                </a:ln>
                <a:solidFill>
                  <a:schemeClr val="tx1"/>
                </a:solidFill>
                <a:effectLst/>
                <a:latin typeface="+mj-lt"/>
              </a:rPr>
              <a:t>Our study found that prediction of </a:t>
            </a:r>
            <a:r>
              <a:rPr lang="en-US" altLang="en-US" sz="3600" dirty="0">
                <a:latin typeface="+mj-lt"/>
              </a:rPr>
              <a:t>personal expenses </a:t>
            </a:r>
            <a:r>
              <a:rPr kumimoji="0" lang="en-US" altLang="en-US" sz="3600" b="0" i="0" u="none" strike="noStrike" cap="none" normalizeH="0" baseline="0" dirty="0">
                <a:ln>
                  <a:noFill/>
                </a:ln>
                <a:solidFill>
                  <a:schemeClr val="tx1"/>
                </a:solidFill>
                <a:effectLst/>
                <a:latin typeface="+mj-lt"/>
              </a:rPr>
              <a:t>helps people</a:t>
            </a:r>
          </a:p>
          <a:p>
            <a:pPr algn="l"/>
            <a:r>
              <a:rPr kumimoji="0" lang="en-US" altLang="en-US" sz="3600" b="0" i="0" u="none" strike="noStrike" cap="none" normalizeH="0" baseline="0" dirty="0">
                <a:ln>
                  <a:noFill/>
                </a:ln>
                <a:solidFill>
                  <a:schemeClr val="tx1"/>
                </a:solidFill>
                <a:effectLst/>
                <a:latin typeface="+mj-lt"/>
              </a:rPr>
              <a:t>better understand their money and make smart spending</a:t>
            </a:r>
          </a:p>
          <a:p>
            <a:pPr algn="l"/>
            <a:r>
              <a:rPr kumimoji="0" lang="en-US" altLang="en-US" sz="3600" b="0" i="0" u="none" strike="noStrike" cap="none" normalizeH="0" baseline="0" dirty="0">
                <a:ln>
                  <a:noFill/>
                </a:ln>
                <a:solidFill>
                  <a:schemeClr val="tx1"/>
                </a:solidFill>
                <a:effectLst/>
                <a:latin typeface="+mj-lt"/>
              </a:rPr>
              <a:t>decisions.</a:t>
            </a:r>
          </a:p>
          <a:p>
            <a:pPr marL="571500" indent="-571500" algn="just">
              <a:buFont typeface="Arial" panose="020B0604020202020204" pitchFamily="34" charset="0"/>
              <a:buChar char="•"/>
            </a:pPr>
            <a:endParaRPr lang="en-US" sz="3600" dirty="0">
              <a:latin typeface="+mj-lt"/>
            </a:endParaRP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3948981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Conclusion</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
        <p:nvSpPr>
          <p:cNvPr id="7" name="Subtitle 6">
            <a:extLst>
              <a:ext uri="{FF2B5EF4-FFF2-40B4-BE49-F238E27FC236}">
                <a16:creationId xmlns:a16="http://schemas.microsoft.com/office/drawing/2014/main" id="{51605157-8AD8-69E4-F267-15BD399211DE}"/>
              </a:ext>
            </a:extLst>
          </p:cNvPr>
          <p:cNvSpPr>
            <a:spLocks noGrp="1"/>
          </p:cNvSpPr>
          <p:nvPr>
            <p:ph type="subTitle" idx="1"/>
          </p:nvPr>
        </p:nvSpPr>
        <p:spPr>
          <a:xfrm>
            <a:off x="360680" y="1255486"/>
            <a:ext cx="11470640" cy="5399314"/>
          </a:xfrm>
        </p:spPr>
        <p:txBody>
          <a:bodyPr>
            <a:normAutofit/>
          </a:bodyPr>
          <a:lstStyle/>
          <a:p>
            <a:pPr algn="just"/>
            <a:r>
              <a:rPr lang="en-US" sz="2800" b="0" i="0" u="none" strike="noStrike" baseline="0" dirty="0">
                <a:latin typeface="+mj-lt"/>
              </a:rPr>
              <a:t>Tracking the daily expenses can not only help in saving money but also help in setting financial goals for the future. This project has presented novel approach to expense tracking and financial management through the development of a prediction</a:t>
            </a:r>
            <a:r>
              <a:rPr lang="en-IN" sz="2800" b="0" i="0" u="none" strike="noStrike" baseline="0" dirty="0">
                <a:latin typeface="+mj-lt"/>
              </a:rPr>
              <a:t> system of monthly expenses,</a:t>
            </a:r>
            <a:r>
              <a:rPr lang="en-US" sz="2800" b="0" i="0" u="none" strike="noStrike" baseline="0" dirty="0">
                <a:latin typeface="+mj-lt"/>
              </a:rPr>
              <a:t> improves users understanding of their finances and empowers them to make informed decisions about their spending. By incorporating regression models and real-time data sources, our system delivers timely and relevant insights that help users identify areas for cost-saving and budget </a:t>
            </a:r>
            <a:r>
              <a:rPr lang="en-IN" sz="2800" b="0" i="0" u="none" strike="noStrike" baseline="0" dirty="0">
                <a:latin typeface="+mj-lt"/>
              </a:rPr>
              <a:t>optimization , continuous research and </a:t>
            </a:r>
            <a:r>
              <a:rPr lang="en-US" sz="2800" b="0" i="0" u="none" strike="noStrike" baseline="0" dirty="0">
                <a:latin typeface="+mj-lt"/>
              </a:rPr>
              <a:t>development efforts in these areas could significantly enhance the effectiveness and utility of the spending monitoring system, offering users a comprehensive solution for their </a:t>
            </a:r>
            <a:r>
              <a:rPr lang="en-IN" sz="2800" b="0" i="0" u="none" strike="noStrike" baseline="0" dirty="0">
                <a:latin typeface="+mj-lt"/>
              </a:rPr>
              <a:t>financial management needs.</a:t>
            </a:r>
            <a:endParaRPr lang="en-IN" sz="2800" dirty="0">
              <a:latin typeface="+mj-lt"/>
            </a:endParaRPr>
          </a:p>
          <a:p>
            <a:pPr algn="just"/>
            <a:endParaRPr lang="en-IN" sz="2800" dirty="0">
              <a:latin typeface="+mj-lt"/>
            </a:endParaRPr>
          </a:p>
        </p:txBody>
      </p:sp>
    </p:spTree>
    <p:extLst>
      <p:ext uri="{BB962C8B-B14F-4D97-AF65-F5344CB8AC3E}">
        <p14:creationId xmlns:p14="http://schemas.microsoft.com/office/powerpoint/2010/main" val="555218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List of Publication</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
        <p:nvSpPr>
          <p:cNvPr id="6" name="Subtitle 5">
            <a:extLst>
              <a:ext uri="{FF2B5EF4-FFF2-40B4-BE49-F238E27FC236}">
                <a16:creationId xmlns:a16="http://schemas.microsoft.com/office/drawing/2014/main" id="{17E84ADC-3616-3F8E-96A9-5D0CFE403ADC}"/>
              </a:ext>
            </a:extLst>
          </p:cNvPr>
          <p:cNvSpPr>
            <a:spLocks noGrp="1"/>
          </p:cNvSpPr>
          <p:nvPr>
            <p:ph type="subTitle" idx="1"/>
          </p:nvPr>
        </p:nvSpPr>
        <p:spPr>
          <a:xfrm>
            <a:off x="494157" y="1331533"/>
            <a:ext cx="11374016" cy="5645019"/>
          </a:xfrm>
        </p:spPr>
        <p:txBody>
          <a:bodyPr>
            <a:noAutofit/>
          </a:bodyPr>
          <a:lstStyle/>
          <a:p>
            <a:pPr marL="457200" indent="-457200" algn="l">
              <a:buAutoNum type="arabicPeriod"/>
            </a:pPr>
            <a:r>
              <a:rPr lang="en-US" dirty="0">
                <a:latin typeface="+mj-lt"/>
              </a:rPr>
              <a:t>"</a:t>
            </a:r>
            <a:r>
              <a:rPr lang="en-US" b="1" dirty="0">
                <a:latin typeface="+mj-lt"/>
              </a:rPr>
              <a:t>Online Income and Expense Tracker</a:t>
            </a:r>
            <a:r>
              <a:rPr lang="en-US" dirty="0">
                <a:latin typeface="+mj-lt"/>
              </a:rPr>
              <a:t>" by S. Chandini et al. in the International Research Journal of Engineering and Technology (IRJET), volume 6, issue 3, March 2019.   </a:t>
            </a:r>
          </a:p>
          <a:p>
            <a:pPr marL="457200" indent="-457200" algn="l">
              <a:buAutoNum type="arabicPeriod"/>
            </a:pPr>
            <a:r>
              <a:rPr lang="en-US" dirty="0">
                <a:latin typeface="+mj-lt"/>
              </a:rPr>
              <a:t>"</a:t>
            </a:r>
            <a:r>
              <a:rPr lang="en-US" b="1" dirty="0">
                <a:latin typeface="+mj-lt"/>
              </a:rPr>
              <a:t>Expense Tracker</a:t>
            </a:r>
            <a:r>
              <a:rPr lang="en-US" dirty="0">
                <a:latin typeface="+mj-lt"/>
              </a:rPr>
              <a:t>" by Atiya Kazi et al. in the ICONIC Research and Engineering Journals (IRE), volume 4, issue 11, May 2021.</a:t>
            </a:r>
          </a:p>
          <a:p>
            <a:pPr marL="457200" indent="-457200" algn="l">
              <a:buAutoNum type="arabicPeriod"/>
            </a:pPr>
            <a:r>
              <a:rPr lang="en-US" dirty="0">
                <a:latin typeface="+mj-lt"/>
              </a:rPr>
              <a:t>"</a:t>
            </a:r>
            <a:r>
              <a:rPr lang="en-US" b="1" dirty="0">
                <a:latin typeface="+mj-lt"/>
              </a:rPr>
              <a:t>Expense Tracker</a:t>
            </a:r>
            <a:r>
              <a:rPr lang="en-US" dirty="0">
                <a:latin typeface="+mj-lt"/>
              </a:rPr>
              <a:t>" by Nidhi Jitendra Jadhav et al. in the International Research Journal of Modernization in Engineering Technology and Science (IRJMETS), volume 4, issue 4, April 2022.</a:t>
            </a:r>
          </a:p>
          <a:p>
            <a:pPr marL="457200" indent="-457200" algn="l">
              <a:buAutoNum type="arabicPeriod"/>
            </a:pPr>
            <a:r>
              <a:rPr lang="en-US" dirty="0">
                <a:latin typeface="+mj-lt"/>
              </a:rPr>
              <a:t>"</a:t>
            </a:r>
            <a:r>
              <a:rPr lang="en-US" b="1" dirty="0">
                <a:latin typeface="+mj-lt"/>
              </a:rPr>
              <a:t>Expense Tracker: A Smart Approach to Track Everyday Expense</a:t>
            </a:r>
            <a:r>
              <a:rPr lang="en-US" dirty="0">
                <a:latin typeface="+mj-lt"/>
              </a:rPr>
              <a:t>" by Hrithik Gupta et al. in </a:t>
            </a:r>
            <a:r>
              <a:rPr lang="en-US" dirty="0" err="1">
                <a:latin typeface="+mj-lt"/>
              </a:rPr>
              <a:t>EasyChair</a:t>
            </a:r>
            <a:r>
              <a:rPr lang="en-US" dirty="0">
                <a:latin typeface="+mj-lt"/>
              </a:rPr>
              <a:t>, December 2020.</a:t>
            </a:r>
          </a:p>
          <a:p>
            <a:pPr marL="457200" indent="-457200" algn="l">
              <a:buAutoNum type="arabicPeriod"/>
            </a:pPr>
            <a:r>
              <a:rPr lang="en-US" dirty="0">
                <a:latin typeface="+mj-lt"/>
              </a:rPr>
              <a:t>"</a:t>
            </a:r>
            <a:r>
              <a:rPr lang="en-US" b="1" dirty="0">
                <a:latin typeface="+mj-lt"/>
              </a:rPr>
              <a:t>Daily Expense Tracker</a:t>
            </a:r>
            <a:r>
              <a:rPr lang="en-US" dirty="0">
                <a:latin typeface="+mj-lt"/>
              </a:rPr>
              <a:t>" by Tamia </a:t>
            </a:r>
            <a:r>
              <a:rPr lang="en-US" dirty="0" err="1">
                <a:latin typeface="+mj-lt"/>
              </a:rPr>
              <a:t>Ruvimbo</a:t>
            </a:r>
            <a:r>
              <a:rPr lang="en-US" dirty="0">
                <a:latin typeface="+mj-lt"/>
              </a:rPr>
              <a:t> </a:t>
            </a:r>
            <a:r>
              <a:rPr lang="en-US" dirty="0" err="1">
                <a:latin typeface="+mj-lt"/>
              </a:rPr>
              <a:t>Masendu</a:t>
            </a:r>
            <a:r>
              <a:rPr lang="en-US" dirty="0">
                <a:latin typeface="+mj-lt"/>
              </a:rPr>
              <a:t> et al. in the International Journal of Research in Engineering, Science and Management (IJRESM), Volume 5, Issue 5, May 2022.</a:t>
            </a:r>
          </a:p>
        </p:txBody>
      </p:sp>
    </p:spTree>
    <p:extLst>
      <p:ext uri="{BB962C8B-B14F-4D97-AF65-F5344CB8AC3E}">
        <p14:creationId xmlns:p14="http://schemas.microsoft.com/office/powerpoint/2010/main" val="3560092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r>
              <a:rPr lang="en-US" sz="4400" b="1" dirty="0">
                <a:solidFill>
                  <a:schemeClr val="bg1"/>
                </a:solidFill>
                <a:latin typeface="Times New Roman" panose="02020603050405020304" pitchFamily="18" charset="0"/>
                <a:cs typeface="Times New Roman" panose="02020603050405020304" pitchFamily="18" charset="0"/>
              </a:rPr>
              <a:t>References</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
        <p:nvSpPr>
          <p:cNvPr id="4" name="Subtitle 2">
            <a:extLst>
              <a:ext uri="{FF2B5EF4-FFF2-40B4-BE49-F238E27FC236}">
                <a16:creationId xmlns:a16="http://schemas.microsoft.com/office/drawing/2014/main" id="{F7771030-755F-BF25-23F9-5B3757631AB1}"/>
              </a:ext>
            </a:extLst>
          </p:cNvPr>
          <p:cNvSpPr txBox="1">
            <a:spLocks/>
          </p:cNvSpPr>
          <p:nvPr/>
        </p:nvSpPr>
        <p:spPr>
          <a:xfrm>
            <a:off x="364671" y="1435916"/>
            <a:ext cx="11919858" cy="54438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4400"/>
          </a:p>
          <a:p>
            <a:pPr algn="l"/>
            <a:endParaRPr lang="en-US" sz="4400"/>
          </a:p>
          <a:p>
            <a:pPr marL="571500" indent="-571500" algn="l">
              <a:buFont typeface="Arial" panose="020B0604020202020204" pitchFamily="34" charset="0"/>
              <a:buChar char="•"/>
            </a:pPr>
            <a:endParaRPr lang="en-US" sz="4400" dirty="0"/>
          </a:p>
        </p:txBody>
      </p:sp>
      <p:sp>
        <p:nvSpPr>
          <p:cNvPr id="6" name="Subtitle 2">
            <a:extLst>
              <a:ext uri="{FF2B5EF4-FFF2-40B4-BE49-F238E27FC236}">
                <a16:creationId xmlns:a16="http://schemas.microsoft.com/office/drawing/2014/main" id="{1DF2CF00-70A6-9CBF-A0B1-2D5602D47C02}"/>
              </a:ext>
            </a:extLst>
          </p:cNvPr>
          <p:cNvSpPr txBox="1">
            <a:spLocks/>
          </p:cNvSpPr>
          <p:nvPr/>
        </p:nvSpPr>
        <p:spPr>
          <a:xfrm>
            <a:off x="1446246" y="2110271"/>
            <a:ext cx="8938726" cy="28536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eaLnBrk="1" hangingPunct="1">
              <a:spcBef>
                <a:spcPts val="1800"/>
              </a:spcBef>
              <a:buClr>
                <a:srgbClr val="9B57D3"/>
              </a:buClr>
              <a:buSzPct val="100000"/>
              <a:buFont typeface="Arial" panose="020B0604020202020204" pitchFamily="34" charset="0"/>
              <a:buChar char="•"/>
              <a:defRPr/>
            </a:pPr>
            <a:r>
              <a:rPr lang="en-US" sz="3200" dirty="0">
                <a:solidFill>
                  <a:schemeClr val="tx1"/>
                </a:solidFill>
                <a:highlight>
                  <a:srgbClr val="FFFFFF"/>
                </a:highlight>
              </a:rPr>
              <a:t>Research Paper (</a:t>
            </a:r>
            <a:r>
              <a:rPr lang="en-US" sz="3200" dirty="0"/>
              <a:t>IRJET, IRE, IRJMETS, IJRESM, etc.</a:t>
            </a:r>
            <a:r>
              <a:rPr lang="en-US" sz="3200" dirty="0">
                <a:solidFill>
                  <a:schemeClr val="tx1"/>
                </a:solidFill>
                <a:highlight>
                  <a:srgbClr val="FFFFFF"/>
                </a:highlight>
              </a:rPr>
              <a:t>)</a:t>
            </a:r>
            <a:endParaRPr lang="en-IN" sz="3200" dirty="0">
              <a:solidFill>
                <a:schemeClr val="tx1"/>
              </a:solidFill>
              <a:highlight>
                <a:srgbClr val="FFFFFF"/>
              </a:highlight>
            </a:endParaRPr>
          </a:p>
          <a:p>
            <a:pPr marL="457200" indent="-457200" algn="just" eaLnBrk="1" hangingPunct="1">
              <a:spcBef>
                <a:spcPts val="1800"/>
              </a:spcBef>
              <a:buClr>
                <a:srgbClr val="9B57D3"/>
              </a:buClr>
              <a:buSzPct val="100000"/>
              <a:buFont typeface="Arial" panose="020B0604020202020204" pitchFamily="34" charset="0"/>
              <a:buChar char="•"/>
              <a:defRPr/>
            </a:pPr>
            <a:r>
              <a:rPr lang="en-US" sz="3200">
                <a:solidFill>
                  <a:schemeClr val="tx1"/>
                </a:solidFill>
              </a:rPr>
              <a:t>https://www.kaggle.com/</a:t>
            </a:r>
            <a:endParaRPr lang="en-US" sz="3200" dirty="0">
              <a:solidFill>
                <a:schemeClr val="tx1"/>
              </a:solidFill>
            </a:endParaRPr>
          </a:p>
          <a:p>
            <a:pPr marL="457200" indent="-457200" algn="just" eaLnBrk="1" hangingPunct="1">
              <a:spcBef>
                <a:spcPts val="1800"/>
              </a:spcBef>
              <a:buClr>
                <a:srgbClr val="9B57D3"/>
              </a:buClr>
              <a:buSzPct val="100000"/>
              <a:buFont typeface="Arial" panose="020B0604020202020204" pitchFamily="34" charset="0"/>
              <a:buChar char="•"/>
              <a:defRPr/>
            </a:pPr>
            <a:r>
              <a:rPr lang="en-US" sz="3200" dirty="0"/>
              <a:t>https://streamlit.io/</a:t>
            </a:r>
          </a:p>
          <a:p>
            <a:pPr marL="457200" indent="-457200" algn="just" eaLnBrk="1" hangingPunct="1">
              <a:spcBef>
                <a:spcPts val="1800"/>
              </a:spcBef>
              <a:buClr>
                <a:srgbClr val="9B57D3"/>
              </a:buClr>
              <a:buSzPct val="100000"/>
              <a:buFont typeface="Arial" panose="020B0604020202020204" pitchFamily="34" charset="0"/>
              <a:buChar char="•"/>
              <a:defRPr/>
            </a:pPr>
            <a:r>
              <a:rPr lang="en-US" sz="3200" dirty="0"/>
              <a:t>https://scikit-learn.org/</a:t>
            </a:r>
          </a:p>
        </p:txBody>
      </p:sp>
    </p:spTree>
    <p:extLst>
      <p:ext uri="{BB962C8B-B14F-4D97-AF65-F5344CB8AC3E}">
        <p14:creationId xmlns:p14="http://schemas.microsoft.com/office/powerpoint/2010/main" val="197759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5314"/>
            <a:ext cx="12192000" cy="677636"/>
          </a:xfrm>
          <a:solidFill>
            <a:schemeClr val="accent1">
              <a:lumMod val="75000"/>
            </a:schemeClr>
          </a:solidFill>
        </p:spPr>
        <p:txBody>
          <a:bodyPr>
            <a:noAutofit/>
          </a:bodyPr>
          <a:lstStyle/>
          <a:p>
            <a:endParaRPr lang="en-US" sz="4400" b="1"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12271" y="1283516"/>
            <a:ext cx="11919858" cy="5443854"/>
          </a:xfrm>
        </p:spPr>
        <p:txBody>
          <a:bodyPr>
            <a:normAutofit/>
          </a:bodyPr>
          <a:lstStyle/>
          <a:p>
            <a:pPr algn="l"/>
            <a:endParaRPr lang="en-US" sz="4400" dirty="0"/>
          </a:p>
          <a:p>
            <a:r>
              <a:rPr lang="en-US" sz="12000" b="1" dirty="0"/>
              <a:t>Thank you</a:t>
            </a:r>
          </a:p>
        </p:txBody>
      </p:sp>
      <p:pic>
        <p:nvPicPr>
          <p:cNvPr id="5" name="Picture 4">
            <a:extLst>
              <a:ext uri="{FF2B5EF4-FFF2-40B4-BE49-F238E27FC236}">
                <a16:creationId xmlns:a16="http://schemas.microsoft.com/office/drawing/2014/main" id="{B2FF7742-9138-8423-E7CB-395C7F43B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28263" cy="869909"/>
          </a:xfrm>
          <a:prstGeom prst="rect">
            <a:avLst/>
          </a:prstGeom>
        </p:spPr>
      </p:pic>
    </p:spTree>
    <p:extLst>
      <p:ext uri="{BB962C8B-B14F-4D97-AF65-F5344CB8AC3E}">
        <p14:creationId xmlns:p14="http://schemas.microsoft.com/office/powerpoint/2010/main" val="1070784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D4B3AA00175A41B6271EE6604ADE78" ma:contentTypeVersion="7" ma:contentTypeDescription="Create a new document." ma:contentTypeScope="" ma:versionID="58ded6560454f7e55591d387ec4c1cf3">
  <xsd:schema xmlns:xsd="http://www.w3.org/2001/XMLSchema" xmlns:xs="http://www.w3.org/2001/XMLSchema" xmlns:p="http://schemas.microsoft.com/office/2006/metadata/properties" xmlns:ns3="d7810ab8-8723-4187-818e-d9b6412142fd" xmlns:ns4="096826d5-7161-492d-933b-2e64ef35a687" targetNamespace="http://schemas.microsoft.com/office/2006/metadata/properties" ma:root="true" ma:fieldsID="1e97ebeb199a6368392b3dd17565e562" ns3:_="" ns4:_="">
    <xsd:import namespace="d7810ab8-8723-4187-818e-d9b6412142fd"/>
    <xsd:import namespace="096826d5-7161-492d-933b-2e64ef35a68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810ab8-8723-4187-818e-d9b6412142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6826d5-7161-492d-933b-2e64ef35a68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E12489-285D-49EE-A13B-91584D24E6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810ab8-8723-4187-818e-d9b6412142fd"/>
    <ds:schemaRef ds:uri="096826d5-7161-492d-933b-2e64ef35a6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CD871D-654E-400B-BDD0-80A2ED416425}">
  <ds:schemaRefs>
    <ds:schemaRef ds:uri="http://schemas.microsoft.com/sharepoint/v3/contenttype/forms"/>
  </ds:schemaRefs>
</ds:datastoreItem>
</file>

<file path=customXml/itemProps3.xml><?xml version="1.0" encoding="utf-8"?>
<ds:datastoreItem xmlns:ds="http://schemas.openxmlformats.org/officeDocument/2006/customXml" ds:itemID="{B080A86F-B706-4F0A-A446-F8F156903AB6}">
  <ds:schemaRefs>
    <ds:schemaRef ds:uri="http://schemas.microsoft.com/office/2006/documentManagement/types"/>
    <ds:schemaRef ds:uri="http://purl.org/dc/elements/1.1/"/>
    <ds:schemaRef ds:uri="096826d5-7161-492d-933b-2e64ef35a687"/>
    <ds:schemaRef ds:uri="http://schemas.microsoft.com/office/2006/metadata/properties"/>
    <ds:schemaRef ds:uri="http://schemas.openxmlformats.org/package/2006/metadata/core-properties"/>
    <ds:schemaRef ds:uri="http://www.w3.org/XML/1998/namespace"/>
    <ds:schemaRef ds:uri="http://purl.org/dc/terms/"/>
    <ds:schemaRef ds:uri="http://schemas.microsoft.com/office/infopath/2007/PartnerControls"/>
    <ds:schemaRef ds:uri="d7810ab8-8723-4187-818e-d9b6412142fd"/>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3513</TotalTime>
  <Words>1450</Words>
  <Application>Microsoft Office PowerPoint</Application>
  <PresentationFormat>Widescreen</PresentationFormat>
  <Paragraphs>113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Noida institute of Engineering &amp; Technology</vt:lpstr>
      <vt:lpstr>Presentation Outline</vt:lpstr>
      <vt:lpstr>Introduction</vt:lpstr>
      <vt:lpstr>Literature Review</vt:lpstr>
      <vt:lpstr>Literature Review</vt:lpstr>
      <vt:lpstr>Research Gap</vt:lpstr>
      <vt:lpstr>Objective of the Research work</vt:lpstr>
      <vt:lpstr>Methodology</vt:lpstr>
      <vt:lpstr>Methodology</vt:lpstr>
      <vt:lpstr>Methodology</vt:lpstr>
      <vt:lpstr>Result</vt:lpstr>
      <vt:lpstr>Conclusion</vt:lpstr>
      <vt:lpstr>List of Publication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&amp; Technology</dc:title>
  <dc:creator>Sandhya</dc:creator>
  <cp:lastModifiedBy>Namit Kumar</cp:lastModifiedBy>
  <cp:revision>19</cp:revision>
  <dcterms:created xsi:type="dcterms:W3CDTF">2024-04-16T08:59:59Z</dcterms:created>
  <dcterms:modified xsi:type="dcterms:W3CDTF">2024-04-24T10:45:10Z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0x0101001BD4B3AA00175A41B6271EE6604ADE78</vt:lpwstr>
  </property>
</Properties>
</file>